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41080" y="960120"/>
            <a:ext cx="2651760" cy="2651760"/>
          </a:xfrm>
          <a:prstGeom prst="ellipse">
            <a:avLst/>
          </a:prstGeom>
          <a:noFill/>
          <a:ln w="1524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1463040"/>
            <a:ext cx="2240280" cy="2240280"/>
          </a:xfrm>
          <a:prstGeom prst="ellipse">
            <a:avLst/>
          </a:prstGeom>
          <a:noFill/>
          <a:ln w="15240">
            <a:solidFill>
              <a:srgbClr val="4A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2011680"/>
            <a:ext cx="1691640" cy="1691640"/>
          </a:xfrm>
          <a:prstGeom prst="ellipse">
            <a:avLst/>
          </a:prstGeom>
          <a:noFill/>
          <a:ln w="15240">
            <a:solidFill>
              <a:srgbClr val="4DE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1120" y="1828800"/>
            <a:ext cx="2057400" cy="1828800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006841" y="1976295"/>
            <a:ext cx="2057399" cy="14527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2000" b="1" dirty="0">
                <a:solidFill>
                  <a:srgbClr val="4AD6F4"/>
                </a:solidFill>
                <a:latin typeface="Aptos"/>
              </a:rPr>
              <a:t>AEGIS</a:t>
            </a:r>
            <a:r>
              <a:rPr lang="en-IN" sz="2000" b="1" dirty="0">
                <a:solidFill>
                  <a:srgbClr val="4AD6F4"/>
                </a:solidFill>
                <a:latin typeface="Aptos"/>
              </a:rPr>
              <a:t>: </a:t>
            </a:r>
            <a:r>
              <a:rPr lang="en-US" sz="1200" b="1" dirty="0">
                <a:solidFill>
                  <a:schemeClr val="bg1"/>
                </a:solidFill>
                <a:latin typeface="Aptos"/>
              </a:rPr>
              <a:t>In Greek mythology, the aegis was a protective shield associated with Athena and Zeus. Today, the word also conveys protection, defense, and safeguarding.</a:t>
            </a:r>
            <a:endParaRPr sz="2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"/>
            <a:ext cx="548640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D6F4"/>
                </a:solidFill>
                <a:latin typeface="Aptos"/>
              </a:rPr>
              <a:t>COGNITION 2026  • 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7498079" cy="86793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2F7FF"/>
                </a:solidFill>
                <a:latin typeface="Aptos"/>
              </a:rPr>
              <a:t>AegisOne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7498079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4AD6F4"/>
                </a:solidFill>
                <a:latin typeface="Aptos"/>
              </a:rPr>
              <a:t>Think Before AI 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82112"/>
            <a:ext cx="6949440" cy="70378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dirty="0">
                <a:solidFill>
                  <a:srgbClr val="9DB1CA"/>
                </a:solidFill>
                <a:latin typeface="Aptos"/>
              </a:rPr>
              <a:t>A pre-execution safety layer that verifies, simulates,</a:t>
            </a:r>
          </a:p>
          <a:p>
            <a:pPr algn="l">
              <a:spcAft>
                <a:spcPts val="400"/>
              </a:spcAft>
            </a:pPr>
            <a:r>
              <a:rPr sz="2000" b="0" dirty="0">
                <a:solidFill>
                  <a:srgbClr val="9DB1CA"/>
                </a:solidFill>
                <a:latin typeface="Aptos"/>
              </a:rPr>
              <a:t>and authorizes AI actions before they reach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572000"/>
            <a:ext cx="4480560" cy="566928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960120" y="4745736"/>
            <a:ext cx="4069080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2F7FF"/>
                </a:solidFill>
                <a:latin typeface="Aptos"/>
              </a:rPr>
              <a:t>PROJECT REVIEW  /  WORKING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541880"/>
            <a:ext cx="548640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lang="en-IN" sz="1600" b="1" dirty="0">
                <a:solidFill>
                  <a:srgbClr val="F2F7FF"/>
                </a:solidFill>
                <a:latin typeface="Aptos"/>
              </a:rPr>
              <a:t>Team: </a:t>
            </a:r>
            <a:r>
              <a:rPr lang="en-IN" sz="1600" b="1" dirty="0" err="1">
                <a:solidFill>
                  <a:srgbClr val="F2F7FF"/>
                </a:solidFill>
                <a:latin typeface="Aptos"/>
              </a:rPr>
              <a:t>Quby</a:t>
            </a:r>
            <a:endParaRPr sz="1600" b="1" dirty="0">
              <a:solidFill>
                <a:srgbClr val="F2F7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6016752"/>
            <a:ext cx="6400800" cy="4267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9DB1CA"/>
                </a:solidFill>
                <a:latin typeface="Aptos"/>
              </a:rPr>
              <a:t>Team members: </a:t>
            </a:r>
            <a:r>
              <a:rPr lang="en-IN" sz="1100" b="0" dirty="0">
                <a:solidFill>
                  <a:srgbClr val="9DB1CA"/>
                </a:solidFill>
                <a:latin typeface="Aptos"/>
              </a:rPr>
              <a:t>Yash Gupta</a:t>
            </a:r>
          </a:p>
          <a:p>
            <a:pPr algn="l">
              <a:spcAft>
                <a:spcPts val="400"/>
              </a:spcAft>
            </a:pPr>
            <a:r>
              <a:rPr lang="en-IN" sz="1100" dirty="0">
                <a:solidFill>
                  <a:srgbClr val="9DB1CA"/>
                </a:solidFill>
                <a:latin typeface="Aptos"/>
              </a:rPr>
              <a:t>   	                    </a:t>
            </a:r>
            <a:r>
              <a:rPr lang="en-IN" sz="1100" b="0" dirty="0" err="1">
                <a:solidFill>
                  <a:srgbClr val="9DB1CA"/>
                </a:solidFill>
                <a:latin typeface="Aptos"/>
              </a:rPr>
              <a:t>Gurutheja</a:t>
            </a:r>
            <a:r>
              <a:rPr lang="en-IN" sz="1100" b="0" dirty="0">
                <a:solidFill>
                  <a:srgbClr val="9DB1CA"/>
                </a:solidFill>
                <a:latin typeface="Aptos"/>
              </a:rPr>
              <a:t> </a:t>
            </a:r>
            <a:r>
              <a:rPr lang="en-IN" sz="1100" b="0" dirty="0" err="1">
                <a:solidFill>
                  <a:srgbClr val="9DB1CA"/>
                </a:solidFill>
                <a:latin typeface="Aptos"/>
              </a:rPr>
              <a:t>Kavuturi</a:t>
            </a:r>
            <a:endParaRPr sz="1100" b="0" dirty="0">
              <a:solidFill>
                <a:srgbClr val="9DB1C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41280" y="6309360"/>
            <a:ext cx="10972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AI agents can act faster than humans can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The gap is not intelligence alone. It is a trustworthy boundary between intent and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13716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0292" cy="1371600"/>
          </a:xfrm>
          <a:prstGeom prst="roundRect">
            <a:avLst>
              <a:gd name="adj" fmla="val 12000"/>
            </a:avLst>
          </a:prstGeom>
          <a:solidFill>
            <a:srgbClr val="FF697A"/>
          </a:solidFill>
          <a:ln w="10160">
            <a:solidFill>
              <a:srgbClr val="FF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ACTION ≠ 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3154680" cy="8412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A plausible agent decision does not prove the action is permitted.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13716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50292" cy="1371600"/>
          </a:xfrm>
          <a:prstGeom prst="roundRect">
            <a:avLst>
              <a:gd name="adj" fmla="val 12000"/>
            </a:avLst>
          </a:prstGeom>
          <a:solidFill>
            <a:srgbClr val="FFC75D"/>
          </a:solidFill>
          <a:ln w="10160">
            <a:solidFill>
              <a:srgbClr val="FFC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CONTEXT CAN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58568"/>
            <a:ext cx="3154680" cy="8412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Recipients, permissions, policy, or evidence may change before commit.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13716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50292" cy="1371600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AUDIT COMES TOO 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58568"/>
            <a:ext cx="3154680" cy="8412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A log after execution cannot prevent a harmful action beforehand.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45720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2F7FF"/>
                </a:solidFill>
                <a:latin typeface="Aptos"/>
              </a:rPr>
              <a:t>AegisOne's objectives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059935"/>
            <a:ext cx="73152" cy="73152"/>
          </a:xfrm>
          <a:prstGeom prst="ellipse">
            <a:avLst/>
          </a:prstGeom>
          <a:solidFill>
            <a:srgbClr val="4A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977639"/>
            <a:ext cx="10332720" cy="42062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F"/>
                </a:solidFill>
                <a:latin typeface="Aptos"/>
              </a:rPr>
              <a:t>Inspect and normalize proposed actions with identity and context.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498848"/>
            <a:ext cx="73152" cy="73152"/>
          </a:xfrm>
          <a:prstGeom prst="ellipse">
            <a:avLst/>
          </a:prstGeom>
          <a:solidFill>
            <a:srgbClr val="4A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16552"/>
            <a:ext cx="10332720" cy="42062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F"/>
                </a:solidFill>
                <a:latin typeface="Aptos"/>
              </a:rPr>
              <a:t>Estimate consequences and explain risk factors behind a decision.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937759"/>
            <a:ext cx="73152" cy="73152"/>
          </a:xfrm>
          <a:prstGeom prst="ellipse">
            <a:avLst/>
          </a:prstGeom>
          <a:solidFill>
            <a:srgbClr val="4A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855464"/>
            <a:ext cx="10332720" cy="42062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F"/>
                </a:solidFill>
                <a:latin typeface="Aptos"/>
              </a:rPr>
              <a:t>Enforce deterministic policy and human approval where required.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376671"/>
            <a:ext cx="73152" cy="73152"/>
          </a:xfrm>
          <a:prstGeom prst="ellipse">
            <a:avLst/>
          </a:prstGeom>
          <a:solidFill>
            <a:srgbClr val="4A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294375"/>
            <a:ext cx="10332720" cy="42062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F"/>
                </a:solidFill>
                <a:latin typeface="Aptos"/>
              </a:rPr>
              <a:t>Revalidate the exact action at commit time and preserve an auditable record.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97880"/>
            <a:ext cx="10698480" cy="310896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952744"/>
            <a:ext cx="10241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DESIGN PRINCIPLE   Reasoning may advise. Only the policy + commit boundary may authorize.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A control plane for agent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The innovation is the integrated enforcement path—not a standalone risk score or chatbot.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5943600" cy="603504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01368"/>
            <a:ext cx="33832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Normalize action + identity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2276856"/>
            <a:ext cx="0" cy="137160"/>
          </a:xfrm>
          <a:prstGeom prst="line">
            <a:avLst/>
          </a:prstGeom>
          <a:ln w="19050">
            <a:solidFill>
              <a:srgbClr val="27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2450592"/>
            <a:ext cx="5943600" cy="603504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60604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9464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ASSESS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587752"/>
            <a:ext cx="33832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Risk factors + 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3063240"/>
            <a:ext cx="0" cy="137160"/>
          </a:xfrm>
          <a:prstGeom prst="line">
            <a:avLst/>
          </a:prstGeom>
          <a:ln w="19050">
            <a:solidFill>
              <a:srgbClr val="27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9808" y="3236976"/>
            <a:ext cx="5943600" cy="603504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392424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55848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SIMULATE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374136"/>
            <a:ext cx="33832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Outcomes + safer options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03320" y="3849624"/>
            <a:ext cx="0" cy="137160"/>
          </a:xfrm>
          <a:prstGeom prst="line">
            <a:avLst/>
          </a:prstGeom>
          <a:ln w="19050">
            <a:solidFill>
              <a:srgbClr val="27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8" y="4023360"/>
            <a:ext cx="5943600" cy="603504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178808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142232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160520"/>
            <a:ext cx="33832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Policy: allow / review / block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03320" y="4636008"/>
            <a:ext cx="0" cy="137160"/>
          </a:xfrm>
          <a:prstGeom prst="line">
            <a:avLst/>
          </a:prstGeom>
          <a:ln w="19050">
            <a:solidFill>
              <a:srgbClr val="27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8" y="4809744"/>
            <a:ext cx="5943600" cy="603504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96519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928616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946904"/>
            <a:ext cx="33832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Bind approval to exact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1783080"/>
            <a:ext cx="4251960" cy="11430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086600" y="1783080"/>
            <a:ext cx="50292" cy="1143000"/>
          </a:xfrm>
          <a:prstGeom prst="roundRect">
            <a:avLst>
              <a:gd name="adj" fmla="val 12000"/>
            </a:avLst>
          </a:prstGeom>
          <a:solidFill>
            <a:srgbClr val="4AD6F4"/>
          </a:solidFill>
          <a:ln w="10160">
            <a:solidFill>
              <a:srgbClr val="4A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69480" y="1920240"/>
            <a:ext cx="3886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KEY DIFFERENTIATOR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258568"/>
            <a:ext cx="388620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Commit-time verification detects an action changed after approval.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1920240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1">
                <a:solidFill>
                  <a:srgbClr val="4AD6F4"/>
                </a:solidFill>
                <a:latin typeface="Aptos"/>
              </a:rPr>
              <a:t>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6600" y="3136392"/>
            <a:ext cx="4251960" cy="11430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086600" y="3136392"/>
            <a:ext cx="50292" cy="1143000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9480" y="3273552"/>
            <a:ext cx="3886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ADVISORY AI, NOT AUTHORITY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3611880"/>
            <a:ext cx="388620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LLMs can interpret and suggest. They cannot override mandatory policy.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86600" y="4489704"/>
            <a:ext cx="4251960" cy="11430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086600" y="4489704"/>
            <a:ext cx="50292" cy="1143000"/>
          </a:xfrm>
          <a:prstGeom prst="roundRect">
            <a:avLst>
              <a:gd name="adj" fmla="val 12000"/>
            </a:avLst>
          </a:prstGeom>
          <a:solidFill>
            <a:srgbClr val="4DE0A9"/>
          </a:solidFill>
          <a:ln w="10160">
            <a:solidFill>
              <a:srgbClr val="4DE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9480" y="4626864"/>
            <a:ext cx="3886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SAFE BY DEFAULT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965192"/>
            <a:ext cx="3886200" cy="6126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Synthetic actions + mock execution prevent external side effects.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852160"/>
            <a:ext cx="40233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AD6F4"/>
                </a:solidFill>
                <a:latin typeface="Aptos"/>
              </a:rPr>
              <a:t>Explainable. Reproducible. Auditable.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A layered 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Each stage has a clear responsibility; no single model is trusted with the whole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72768"/>
            <a:ext cx="6583680" cy="530352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682495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2F7FF"/>
                </a:solidFill>
                <a:latin typeface="Aptos"/>
              </a:rPr>
              <a:t>AGENT / TOOL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1682495"/>
            <a:ext cx="3886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Untrusted proposed 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40" y="2112264"/>
            <a:ext cx="0" cy="146304"/>
          </a:xfrm>
          <a:prstGeom prst="line">
            <a:avLst/>
          </a:prstGeom>
          <a:ln w="19050">
            <a:solidFill>
              <a:srgbClr val="4AD6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286000"/>
            <a:ext cx="6583680" cy="53035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395728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AD6F4"/>
                </a:solidFill>
                <a:latin typeface="Aptos"/>
              </a:rPr>
              <a:t>GATEWAY +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395728"/>
            <a:ext cx="3886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Schema validation · auth · canonicalization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06240" y="2825496"/>
            <a:ext cx="0" cy="146304"/>
          </a:xfrm>
          <a:prstGeom prst="line">
            <a:avLst/>
          </a:prstGeom>
          <a:ln w="19050">
            <a:solidFill>
              <a:srgbClr val="4AD6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2999232"/>
            <a:ext cx="6583680" cy="53035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108960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58BFF"/>
                </a:solidFill>
                <a:latin typeface="Aptos"/>
              </a:rPr>
              <a:t>RISK +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108960"/>
            <a:ext cx="3886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Heuristic · evidence · predicted outcomes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6240" y="3538728"/>
            <a:ext cx="0" cy="146304"/>
          </a:xfrm>
          <a:prstGeom prst="line">
            <a:avLst/>
          </a:prstGeom>
          <a:ln w="19050">
            <a:solidFill>
              <a:srgbClr val="4AD6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712463"/>
            <a:ext cx="6583680" cy="530352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822191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C75D"/>
                </a:solidFill>
                <a:latin typeface="Aptos"/>
              </a:rPr>
              <a:t>POLICY DECISION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822191"/>
            <a:ext cx="3886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ALLOW / REQUIRE_APPROVAL / BLOCK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6240" y="4251959"/>
            <a:ext cx="0" cy="146305"/>
          </a:xfrm>
          <a:prstGeom prst="line">
            <a:avLst/>
          </a:prstGeom>
          <a:ln w="19050">
            <a:solidFill>
              <a:srgbClr val="4AD6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4425696"/>
            <a:ext cx="6583680" cy="53035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4535424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DE0A9"/>
                </a:solidFill>
                <a:latin typeface="Aptos"/>
              </a:rPr>
              <a:t>COMMIT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535424"/>
            <a:ext cx="3886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Recheck hash · permissions · expiry · replay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06240" y="4965192"/>
            <a:ext cx="0" cy="146304"/>
          </a:xfrm>
          <a:prstGeom prst="line">
            <a:avLst/>
          </a:prstGeom>
          <a:ln w="19050">
            <a:solidFill>
              <a:srgbClr val="4AD6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5138928"/>
            <a:ext cx="6583680" cy="530352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5248656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2F7FF"/>
                </a:solidFill>
                <a:latin typeface="Aptos"/>
              </a:rPr>
              <a:t>MOCK EXECUTION +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5248656"/>
            <a:ext cx="388620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Receipt · hash-linked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17830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01000" y="1783080"/>
            <a:ext cx="50292" cy="1234440"/>
          </a:xfrm>
          <a:prstGeom prst="roundRect">
            <a:avLst>
              <a:gd name="adj" fmla="val 12000"/>
            </a:avLst>
          </a:prstGeom>
          <a:solidFill>
            <a:srgbClr val="4AD6F4"/>
          </a:solidFill>
          <a:ln w="10160">
            <a:solidFill>
              <a:srgbClr val="4A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79" y="192024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CONTROL PLANE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258568"/>
            <a:ext cx="2926080" cy="7040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Versioned policy, permissions, approval roles.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29184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001000" y="3291840"/>
            <a:ext cx="50292" cy="1234440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79" y="342900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EVIDENCE PLANE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3767328"/>
            <a:ext cx="2926080" cy="7040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Trace, decision reasons, hashes, provenance.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480060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001000" y="4800600"/>
            <a:ext cx="50292" cy="1051560"/>
          </a:xfrm>
          <a:prstGeom prst="roundRect">
            <a:avLst>
              <a:gd name="adj" fmla="val 12000"/>
            </a:avLst>
          </a:prstGeom>
          <a:solidFill>
            <a:srgbClr val="FF697A"/>
          </a:solidFill>
          <a:ln w="10160">
            <a:solidFill>
              <a:srgbClr val="FF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79" y="4937760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FAIL-CLOSED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5276088"/>
            <a:ext cx="2926080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Required check fails? Hold or block protected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04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A pragmatic stack with honest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Use technologies already present in the repository; verify each integration before claiming it is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0292" cy="1078992"/>
          </a:xfrm>
          <a:prstGeom prst="roundRect">
            <a:avLst>
              <a:gd name="adj" fmla="val 12000"/>
            </a:avLst>
          </a:prstGeom>
          <a:solidFill>
            <a:srgbClr val="4AD6F4"/>
          </a:solidFill>
          <a:ln w="10160">
            <a:solidFill>
              <a:srgbClr val="4A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48463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Existing AegisOne dashboard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Typed UI states · API contracts · event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91640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59" y="1691640"/>
            <a:ext cx="50292" cy="1078992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APPLICATION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67128"/>
            <a:ext cx="48463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Existing backend framework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Validation · auth · lifecycle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50292" cy="1078992"/>
          </a:xfrm>
          <a:prstGeom prst="roundRect">
            <a:avLst>
              <a:gd name="adj" fmla="val 12000"/>
            </a:avLst>
          </a:prstGeom>
          <a:solidFill>
            <a:srgbClr val="4DE0A9"/>
          </a:solidFill>
          <a:ln w="10160">
            <a:solidFill>
              <a:srgbClr val="4DE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79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93008"/>
            <a:ext cx="48463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PostgreSQL / Supabase if configured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Actions · policies · approvals · evaluations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017520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9359" y="3017520"/>
            <a:ext cx="50292" cy="1078992"/>
          </a:xfrm>
          <a:prstGeom prst="roundRect">
            <a:avLst>
              <a:gd name="adj" fmla="val 12000"/>
            </a:avLst>
          </a:prstGeom>
          <a:solidFill>
            <a:srgbClr val="FFC75D"/>
          </a:solidFill>
          <a:ln w="10160">
            <a:solidFill>
              <a:srgbClr val="FFC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79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REASONING 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93008"/>
            <a:ext cx="48463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Optional configured LLM provider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Intent + alternative proposals; advisory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212080" cy="10789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50292" cy="1078992"/>
          </a:xfrm>
          <a:prstGeom prst="roundRect">
            <a:avLst>
              <a:gd name="adj" fmla="val 12000"/>
            </a:avLst>
          </a:prstGeom>
          <a:solidFill>
            <a:srgbClr val="FF697A"/>
          </a:solidFill>
          <a:ln w="10160">
            <a:solidFill>
              <a:srgbClr val="FF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4846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18888"/>
            <a:ext cx="48463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Hashing · deterministic policy · tests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Action binding · replay protection · regression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4505" y="4361688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538766"/>
            <a:ext cx="45262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dirty="0">
                <a:solidFill>
                  <a:srgbClr val="4AD6F4"/>
                </a:solidFill>
                <a:latin typeface="Aptos"/>
              </a:rPr>
              <a:t>CURRENT CONFIGURATION — AS SHOWN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38503"/>
            <a:ext cx="4526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dirty="0">
                <a:solidFill>
                  <a:srgbClr val="F2F7FF"/>
                </a:solidFill>
                <a:latin typeface="Aptos"/>
              </a:rPr>
              <a:t>Heuristic active · LLM unconfigured · supervised model 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925312"/>
            <a:ext cx="10515600" cy="1831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dirty="0">
                <a:solidFill>
                  <a:srgbClr val="FFC75D"/>
                </a:solidFill>
                <a:latin typeface="Aptos"/>
              </a:rPr>
              <a:t>GitHub check: Guruthejax3/</a:t>
            </a:r>
            <a:r>
              <a:rPr sz="950" b="1" dirty="0" err="1">
                <a:solidFill>
                  <a:srgbClr val="FFC75D"/>
                </a:solidFill>
                <a:latin typeface="Aptos"/>
              </a:rPr>
              <a:t>aegisone</a:t>
            </a:r>
            <a:r>
              <a:rPr sz="950" b="1" dirty="0">
                <a:solidFill>
                  <a:srgbClr val="FFC75D"/>
                </a:solidFill>
                <a:latin typeface="Aptos"/>
              </a:rPr>
              <a:t> is public.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05 /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One lifecycle, multiple operational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The existing dashboard is organized around safety operations, governance, and forensic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4AD6F4"/>
          </a:solidFill>
          <a:ln w="10160">
            <a:solidFill>
              <a:srgbClr val="4A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0428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Lifecycle + system 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82880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47872" y="182880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196596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AGENT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30428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Intent, trigger,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182880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37376" y="182880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FFC75D"/>
          </a:solidFill>
          <a:ln w="10160">
            <a:solidFill>
              <a:srgbClr val="FFC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0256" y="196596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CONSEQUENCE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230428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Outcomes + alternatives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82880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4DE0A9"/>
          </a:solidFill>
          <a:ln w="10160">
            <a:solidFill>
              <a:srgbClr val="4DE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196596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POLICY &amp; 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30428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Rules + approval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4AD6F4"/>
          </a:solidFill>
          <a:ln w="10160">
            <a:solidFill>
              <a:srgbClr val="4AD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52044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EVIDENCE &amp;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385876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Timeline + integrity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47872" y="338328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547872" y="338328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FF697A"/>
          </a:solidFill>
          <a:ln w="10160">
            <a:solidFill>
              <a:srgbClr val="FF6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30752" y="352044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RED-TEAM &amp;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385876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Scenarios + regressions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7376" y="338328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37376" y="338328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0256" y="352044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LIVE 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385876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Persisted events + health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3383280"/>
            <a:ext cx="2651760" cy="126187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326880" y="3383280"/>
            <a:ext cx="50292" cy="1261872"/>
          </a:xfrm>
          <a:prstGeom prst="roundRect">
            <a:avLst>
              <a:gd name="adj" fmla="val 12000"/>
            </a:avLst>
          </a:prstGeom>
          <a:solidFill>
            <a:srgbClr val="4DE0A9"/>
          </a:solidFill>
          <a:ln w="10160">
            <a:solidFill>
              <a:srgbClr val="4DE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3520440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GOVERNANCE &amp; RECOVERY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3858768"/>
            <a:ext cx="2286000" cy="7315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Permissions + safe failure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8" y="5358384"/>
            <a:ext cx="10652760" cy="658368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" y="5547655"/>
            <a:ext cx="10149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dirty="0">
                <a:solidFill>
                  <a:srgbClr val="4AD6F4"/>
                </a:solidFill>
                <a:latin typeface="Aptos"/>
              </a:rPr>
              <a:t>A section is “working” only when its backend path, persistence, and tests support the UI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06 / PROTOTYPE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Current dashboard: Model Intelligence &amp; Evaluations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Evidence from the supplied screenshot; visible labels do not prove every backend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image(20261025-04263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6720840" cy="49232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91640"/>
            <a:ext cx="3977639" cy="1024128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43800" y="1691640"/>
            <a:ext cx="50292" cy="1024128"/>
          </a:xfrm>
          <a:prstGeom prst="roundRect">
            <a:avLst>
              <a:gd name="adj" fmla="val 12000"/>
            </a:avLst>
          </a:prstGeom>
          <a:solidFill>
            <a:srgbClr val="4DE0A9"/>
          </a:solidFill>
          <a:ln w="10160">
            <a:solidFill>
              <a:srgbClr val="4DE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1828800"/>
            <a:ext cx="3611879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VISIBLE: HEURISTIC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167128"/>
            <a:ext cx="3611879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UI correctly labels score as heuristic, not probability.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907792"/>
            <a:ext cx="3977639" cy="1024128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2907792"/>
            <a:ext cx="50292" cy="1024128"/>
          </a:xfrm>
          <a:prstGeom prst="roundRect">
            <a:avLst>
              <a:gd name="adj" fmla="val 12000"/>
            </a:avLst>
          </a:prstGeom>
          <a:solidFill>
            <a:srgbClr val="FFC75D"/>
          </a:solidFill>
          <a:ln w="10160">
            <a:solidFill>
              <a:srgbClr val="FFC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3044952"/>
            <a:ext cx="3611879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VISIBLE: PROVIDER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383280"/>
            <a:ext cx="3611879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LLM unconfigured; supervised risk unavailable due to insufficient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123944"/>
            <a:ext cx="3977639" cy="1024128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43800" y="4123944"/>
            <a:ext cx="50292" cy="1024128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6679" y="4261104"/>
            <a:ext cx="3611879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VISIBLE: SYNTHETIC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599431"/>
            <a:ext cx="3611879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No runs yet; execute and persist the suite for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440680"/>
            <a:ext cx="37033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AD6F4"/>
                </a:solidFill>
                <a:latin typeface="Aptos"/>
              </a:rPr>
              <a:t>Next proof: alter an approved action and show the backend rejecting commit.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07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Prove the security invariant—not just the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Three reproducible scenarios make the architecture tangible to reviewers.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520440" cy="19933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99339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AD6F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59152"/>
            <a:ext cx="3063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SAFE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30632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Submit a synthetic draft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46120"/>
            <a:ext cx="30632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Expected: policy decision + persisted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520440" cy="19933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82312" y="199339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AD6F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359152"/>
            <a:ext cx="3063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SENSITIVE SEND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761488"/>
            <a:ext cx="30632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External recipient or sensitive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246120"/>
            <a:ext cx="30632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Expected: approval required or policy block.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3520440" cy="1993392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9339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AD6F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359152"/>
            <a:ext cx="3063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TAMPER AFTER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2761488"/>
            <a:ext cx="30632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Change recipient after test approval.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3246120"/>
            <a:ext cx="30632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Expected: commit gate rejects hash mismatch.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2F7FF"/>
                </a:solidFill>
                <a:latin typeface="Aptos"/>
              </a:rPr>
              <a:t>Evaluation evidence to capture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654296"/>
            <a:ext cx="73152" cy="73152"/>
          </a:xfrm>
          <a:prstGeom prst="ellipse">
            <a:avLst/>
          </a:prstGeom>
          <a:solidFill>
            <a:srgbClr val="4A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1005840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Per-scenario expected vs actual decision, pass/fail, and policy version.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038344"/>
            <a:ext cx="73152" cy="73152"/>
          </a:xfrm>
          <a:prstGeom prst="ellipse">
            <a:avLst/>
          </a:prstGeom>
          <a:solidFill>
            <a:srgbClr val="4A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956048"/>
            <a:ext cx="1005840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Persisted run ID, action hash, commit result, and audit-chain verification.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422392"/>
            <a:ext cx="73152" cy="73152"/>
          </a:xfrm>
          <a:prstGeom prst="ellipse">
            <a:avLst/>
          </a:prstGeom>
          <a:solidFill>
            <a:srgbClr val="4AD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340096"/>
            <a:ext cx="1005840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Measured timings only when actually measured; no invented accuracy or uptime.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007609"/>
            <a:ext cx="10515600" cy="292608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4AD6F4"/>
                </a:solidFill>
                <a:latin typeface="Aptos"/>
              </a:rPr>
              <a:t>08 / ROADMAP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2F7FF"/>
                </a:solidFill>
                <a:latin typeface="Aptos"/>
              </a:rPr>
              <a:t>From prototype to a pluggable safety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DB1CA"/>
                </a:solidFill>
                <a:latin typeface="Aptos"/>
              </a:rPr>
              <a:t>Scale only after the enforcement boundary is tested and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>
                <a:solidFill>
                  <a:srgbClr val="9DB1CA"/>
                </a:solidFill>
                <a:latin typeface="Aptos"/>
              </a:rPr>
              <a:t>AEGISONE  /  THINK BEFORE AI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4AD6F4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0292" cy="1371600"/>
          </a:xfrm>
          <a:prstGeom prst="roundRect">
            <a:avLst>
              <a:gd name="adj" fmla="val 12000"/>
            </a:avLst>
          </a:prstGeom>
          <a:solidFill>
            <a:srgbClr val="4DE0A9"/>
          </a:solidFill>
          <a:ln w="10160">
            <a:solidFill>
              <a:srgbClr val="4DE0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63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NOW / 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3063240" cy="8412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Action lifecycle, approval binding, commit gate, audit verification, evaluations.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50292" cy="1371600"/>
          </a:xfrm>
          <a:prstGeom prst="roundRect">
            <a:avLst>
              <a:gd name="adj" fmla="val 12000"/>
            </a:avLst>
          </a:prstGeom>
          <a:solidFill>
            <a:srgbClr val="458BFF"/>
          </a:solidFill>
          <a:ln w="10160">
            <a:solidFill>
              <a:srgbClr val="45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063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NEXT / 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67128"/>
            <a:ext cx="3063240" cy="8412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Connector adapters, scoped identities, reliable realtime, policy regression.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0F1827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50292" cy="1371600"/>
          </a:xfrm>
          <a:prstGeom prst="roundRect">
            <a:avLst>
              <a:gd name="adj" fmla="val 12000"/>
            </a:avLst>
          </a:prstGeom>
          <a:solidFill>
            <a:srgbClr val="FFC75D"/>
          </a:solidFill>
          <a:ln w="10160">
            <a:solidFill>
              <a:srgbClr val="FFC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0632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LATER / 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67128"/>
            <a:ext cx="3063240" cy="8412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DB1CA"/>
                </a:solidFill>
                <a:latin typeface="Aptos"/>
              </a:rPr>
              <a:t>Collect labelled evaluations before calibrated or supervised risk models.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2F7FF"/>
                </a:solidFill>
                <a:latin typeface="Aptos"/>
              </a:rPr>
              <a:t>The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977639"/>
            <a:ext cx="10424160" cy="868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DB1CA"/>
                </a:solidFill>
                <a:latin typeface="Aptos"/>
              </a:rPr>
              <a:t>An AI agent's intention is not authorization. AegisOne separates reasoning from permission, prediction from evidence, and approval from execution.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66360"/>
            <a:ext cx="10515600" cy="713232"/>
          </a:xfrm>
          <a:prstGeom prst="roundRect">
            <a:avLst>
              <a:gd name="adj" fmla="val 12000"/>
            </a:avLst>
          </a:prstGeom>
          <a:solidFill>
            <a:srgbClr val="142133"/>
          </a:solidFill>
          <a:ln w="10160">
            <a:solidFill>
              <a:srgbClr val="27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376672"/>
            <a:ext cx="10058400" cy="2985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dirty="0">
                <a:solidFill>
                  <a:srgbClr val="4AD6F4"/>
                </a:solidFill>
                <a:latin typeface="Aptos"/>
              </a:rPr>
              <a:t>AEGISONE </a:t>
            </a:r>
            <a:r>
              <a:rPr lang="en-IN" sz="1700" b="1" dirty="0">
                <a:solidFill>
                  <a:srgbClr val="4AD6F4"/>
                </a:solidFill>
                <a:latin typeface="Aptos"/>
              </a:rPr>
              <a:t>: </a:t>
            </a:r>
            <a:r>
              <a:rPr sz="1700" b="1" dirty="0">
                <a:solidFill>
                  <a:srgbClr val="4AD6F4"/>
                </a:solidFill>
                <a:latin typeface="Aptos"/>
              </a:rPr>
              <a:t>THINK BEFORE AI 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1000</Words>
  <Application>Microsoft Office PowerPoint</Application>
  <PresentationFormat>Widescreen</PresentationFormat>
  <Paragraphs>171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gurutheja kavuturi</dc:creator>
  <cp:keywords/>
  <dc:description>generated using python-pptx</dc:description>
  <cp:lastModifiedBy>Yash Gupta</cp:lastModifiedBy>
  <cp:revision>3</cp:revision>
  <dcterms:created xsi:type="dcterms:W3CDTF">2013-01-27T09:14:16Z</dcterms:created>
  <dcterms:modified xsi:type="dcterms:W3CDTF">2026-10-25T05:25:26Z</dcterms:modified>
  <cp:category/>
</cp:coreProperties>
</file>