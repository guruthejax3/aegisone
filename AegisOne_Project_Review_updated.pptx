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ec6510a88f4763" /><Relationship Type="http://schemas.openxmlformats.org/officeDocument/2006/relationships/extended-properties" Target="/docProps/app.xml" Id="R7eaad0b1f0b74760" /><Relationship Type="http://schemas.openxmlformats.org/officeDocument/2006/relationships/officeDocument" Target="/ppt/presentation.xml" Id="Rc01c9f0269dd47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521a825e74d71"/>
  </p:sldMasterIdLst>
  <p:notesMasterIdLst>
    <p:notesMasterId xmlns:r="http://schemas.openxmlformats.org/officeDocument/2006/relationships" r:id="Rdbf8099569b940e4"/>
  </p:notesMasterIdLst>
  <p:sldIdLst>
    <p:sldId xmlns:r="http://schemas.openxmlformats.org/officeDocument/2006/relationships" id="256" r:id="R63585cccce1d4682"/>
    <p:sldId xmlns:r="http://schemas.openxmlformats.org/officeDocument/2006/relationships" id="257" r:id="R7d8d5815e0834f88"/>
    <p:sldId xmlns:r="http://schemas.openxmlformats.org/officeDocument/2006/relationships" id="258" r:id="Rd940d3d458b04d52"/>
    <p:sldId xmlns:r="http://schemas.openxmlformats.org/officeDocument/2006/relationships" id="259" r:id="R9fbbe5b1a74e486d"/>
    <p:sldId xmlns:r="http://schemas.openxmlformats.org/officeDocument/2006/relationships" id="260" r:id="R79c5fa04d44a480d"/>
    <p:sldId xmlns:r="http://schemas.openxmlformats.org/officeDocument/2006/relationships" id="261" r:id="Rd69288ebf50b4125"/>
    <p:sldId xmlns:r="http://schemas.openxmlformats.org/officeDocument/2006/relationships" id="262" r:id="Ra3cc4eaea9644291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53efde1ecf4ee9" /><Relationship Type="http://schemas.openxmlformats.org/officeDocument/2006/relationships/slideMaster" Target="/ppt/slideMasters/slideMaster1.xml" Id="Rc1a521a825e74d71" /><Relationship Type="http://schemas.openxmlformats.org/officeDocument/2006/relationships/notesMaster" Target="/ppt/notesMasters/notesMaster1.xml" Id="Rdbf8099569b940e4" /><Relationship Type="http://schemas.openxmlformats.org/officeDocument/2006/relationships/presProps" Target="/ppt/presProps.xml" Id="R4b38e51f01c5444d" /><Relationship Type="http://schemas.openxmlformats.org/officeDocument/2006/relationships/viewProps" Target="/ppt/viewProps.xml" Id="Rf88981d6deb24dcb" /><Relationship Type="http://schemas.openxmlformats.org/officeDocument/2006/relationships/tableStyles" Target="/ppt/tableStyles.xml" Id="R3734ef36a8704190" /><Relationship Type="http://schemas.openxmlformats.org/officeDocument/2006/relationships/slide" Target="/ppt/slides/slide1.xml" Id="R63585cccce1d4682" /><Relationship Type="http://schemas.openxmlformats.org/officeDocument/2006/relationships/slide" Target="/ppt/slides/slide2.xml" Id="R7d8d5815e0834f88" /><Relationship Type="http://schemas.openxmlformats.org/officeDocument/2006/relationships/slide" Target="/ppt/slides/slide3.xml" Id="Rd940d3d458b04d52" /><Relationship Type="http://schemas.openxmlformats.org/officeDocument/2006/relationships/slide" Target="/ppt/slides/slide4.xml" Id="R9fbbe5b1a74e486d" /><Relationship Type="http://schemas.openxmlformats.org/officeDocument/2006/relationships/slide" Target="/ppt/slides/slide5.xml" Id="R79c5fa04d44a480d" /><Relationship Type="http://schemas.openxmlformats.org/officeDocument/2006/relationships/slide" Target="/ppt/slides/slide6.xml" Id="Rd69288ebf50b4125" /><Relationship Type="http://schemas.openxmlformats.org/officeDocument/2006/relationships/slide" Target="/ppt/slides/slide7.xml" Id="Ra3cc4eaea96442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dd9925c7724c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2c26340b944a93" /><Relationship Type="http://schemas.openxmlformats.org/officeDocument/2006/relationships/notesMaster" Target="/ppt/notesMasters/notesMaster1.xml" Id="Rc48664cc434d4d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3032cb2444dce" /><Relationship Type="http://schemas.openxmlformats.org/officeDocument/2006/relationships/notesMaster" Target="/ppt/notesMasters/notesMaster1.xml" Id="R3681db8cf28e45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240e24d164465d" /><Relationship Type="http://schemas.openxmlformats.org/officeDocument/2006/relationships/notesMaster" Target="/ppt/notesMasters/notesMaster1.xml" Id="Re6bf5cf25a2047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8c3adade4b4e25" /><Relationship Type="http://schemas.openxmlformats.org/officeDocument/2006/relationships/notesMaster" Target="/ppt/notesMasters/notesMaster1.xml" Id="R52e98527105f47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55b74891094453" /><Relationship Type="http://schemas.openxmlformats.org/officeDocument/2006/relationships/notesMaster" Target="/ppt/notesMasters/notesMaster1.xml" Id="R39f10dda798444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56667c80514a84" /><Relationship Type="http://schemas.openxmlformats.org/officeDocument/2006/relationships/notesMaster" Target="/ppt/notesMasters/notesMaster1.xml" Id="R8c00551ccce24e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f81d2c9ea44f70" /><Relationship Type="http://schemas.openxmlformats.org/officeDocument/2006/relationships/notesMaster" Target="/ppt/notesMasters/notesMaster1.xml" Id="Rd1c44d6d1e5f4f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9e77ed18f47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a70d45a644e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5621dc14c45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aff8d164a48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7932c328b40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531a646c940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6769ce6df47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9fc6b9a8945d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e9d287e434a1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b6fd9aa534a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4be61abdc4a8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29BB61-AB35-4AF4-89CD-7C73113D646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D2CBBE6-EA9C-4307-82C7-64F4BB0527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E4CB52-BE88-4677-937A-7D6AC8CED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0B2925-06E9-4411-A115-C3B1AEC53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C05051-7340-4E24-AF02-875087BA72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F2AA83-0355-49F4-8621-0F9A9B5C4B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77B6B1-00F2-4BEB-8603-7E22B2C7EC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AE10C6-B90D-41B8-9FE4-4D647DB4D5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B25FDF-0361-445A-8AC1-61112EF265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DCA185-DD12-4D67-851D-DED9652B30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EFE07A-19FA-491F-9F48-4B933A0E5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7BED7C-127D-4AF9-8757-83A385BF81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C5A1F9-9B1A-4376-A230-70E5DA2D88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846895-C47B-40E7-85D4-54E45E76B4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3698D9-3219-45C8-8E1F-4FFB703E77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507012-E61B-493C-BF96-AEBFA2689C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97FBBE-62B6-4954-8784-6E5B32821D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5EAC557-363F-4B7C-865B-120223087D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FEFE12F-09BC-42E9-830A-E59A213D8E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A3EA6C-51F0-4857-999D-BEF86ED866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4CE68AF-416D-49D5-92E2-103B7F31F8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E9C0AB-5665-4B85-AAD6-7AE08B89A1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00AA93-43F7-4004-A14F-189FDBED6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F30DB5D-504B-440F-80C3-58DA4041AB4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F286AB5-669E-49F0-B39D-FA44AA8BFC4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7CD12E0-8061-43BC-911E-3E64D6FA65C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F541B5E-1289-41D1-847C-3DF175992B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09C79DF-AAF6-4516-834E-35D0ADD4F0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F87FB25-03AD-4BEE-BCA0-2406142F1A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D7BD27-5973-48D5-B10E-806E915EB9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810A409-C196-4A36-B063-CC642234AF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0B3E86F-11C1-43D3-AA83-521739A2F4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05C734F-CC9E-4E17-A3FB-A1669B5B48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1A132BC-C0D2-4F99-8F2E-45F118FA1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21CAB7C-1B54-4EF7-8A38-B834132EE5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F46F76-8C4B-4FBD-9028-675339C155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25CFC4-B950-492F-B1AF-4B049F46C7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6E2850-B3D1-4536-81A5-5052A9FB5C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F99B20-5BF5-449F-B603-8C390E091A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DCFD1F3-0642-4829-9F3F-0DD0CACD8B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984E92A-442C-41D5-82BB-4509121FF8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D04A839-753C-4FF1-B380-35B65ABE0A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21EAA5-43E5-4804-A206-8A8A370BA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8A559E-9703-4A18-8590-9A73171955C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C16EEE7-C11C-4281-9415-6D929F8AE8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5D9A1B-91B9-4EFC-A344-59EC3E463E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0620E7-4C71-4BE4-9061-D794053C4D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4B52E8-F039-4063-AF00-C77CD47885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85F83C-72F8-4F3C-BB35-6F96BC067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5F91AC-E9FE-4E0C-9734-9BEFF2DE8F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6FF75D-B33E-4DE0-98CD-4B06B12648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4021A5-9563-4578-A680-4938B2AD5B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F4BBDC-8AEA-466B-82AF-CC6F509EB5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02F8DD1-02E5-42B0-9FF1-2F0660543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FB687F-A817-445F-AF7B-58EB0FE558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0CBA98E-158B-4E95-B955-B1A07F1AAE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89377F-3169-489D-A1E6-0B05F9F101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229220-6140-4704-88D4-AD11C67772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5df7260b3a4907" /><Relationship Type="http://schemas.openxmlformats.org/officeDocument/2006/relationships/slideLayout" Target="/ppt/slideLayouts/slideLayout1.xml" Id="R0d66478a17f54b94" /><Relationship Type="http://schemas.openxmlformats.org/officeDocument/2006/relationships/slideLayout" Target="/ppt/slideLayouts/slideLayout2.xml" Id="R5e9d27df46764309" /><Relationship Type="http://schemas.openxmlformats.org/officeDocument/2006/relationships/slideLayout" Target="/ppt/slideLayouts/slideLayout3.xml" Id="R9bc8a8ff2b90415b" /><Relationship Type="http://schemas.openxmlformats.org/officeDocument/2006/relationships/slideLayout" Target="/ppt/slideLayouts/slideLayout4.xml" Id="Re0478146770b435d" /><Relationship Type="http://schemas.openxmlformats.org/officeDocument/2006/relationships/slideLayout" Target="/ppt/slideLayouts/slideLayout5.xml" Id="R14f783c86f854206" /><Relationship Type="http://schemas.openxmlformats.org/officeDocument/2006/relationships/slideLayout" Target="/ppt/slideLayouts/slideLayout6.xml" Id="R34cacf52a24c4061" /><Relationship Type="http://schemas.openxmlformats.org/officeDocument/2006/relationships/slideLayout" Target="/ppt/slideLayouts/slideLayout7.xml" Id="Rc654bf4c85b44d29" /><Relationship Type="http://schemas.openxmlformats.org/officeDocument/2006/relationships/slideLayout" Target="/ppt/slideLayouts/slideLayout8.xml" Id="R85f8354cd7e04991" /><Relationship Type="http://schemas.openxmlformats.org/officeDocument/2006/relationships/slideLayout" Target="/ppt/slideLayouts/slideLayout9.xml" Id="Rf4a35af0a9fb41f1" /><Relationship Type="http://schemas.openxmlformats.org/officeDocument/2006/relationships/slideLayout" Target="/ppt/slideLayouts/slideLayout10.xml" Id="R5de892cb259941f9" /><Relationship Type="http://schemas.openxmlformats.org/officeDocument/2006/relationships/slideLayout" Target="/ppt/slideLayouts/slideLayout11.xml" Id="Rafd860bb4b034d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3419FE2-1BB9-419F-B2B4-D729C8D5C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9E27B-4A92-4C13-B59C-337D96CBFF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EEA92E-A506-47F3-BE17-2082BD7BE98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958E33-2F73-48DC-8BF0-0C5A6479F0D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7080FE-B166-4FBD-8FBB-3354DD5E98D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6478a17f54b94"/>
    <p:sldLayoutId xmlns:r="http://schemas.openxmlformats.org/officeDocument/2006/relationships" id="2147483650" r:id="R5e9d27df46764309"/>
    <p:sldLayoutId xmlns:r="http://schemas.openxmlformats.org/officeDocument/2006/relationships" id="2147483651" r:id="R9bc8a8ff2b90415b"/>
    <p:sldLayoutId xmlns:r="http://schemas.openxmlformats.org/officeDocument/2006/relationships" id="2147483652" r:id="Re0478146770b435d"/>
    <p:sldLayoutId xmlns:r="http://schemas.openxmlformats.org/officeDocument/2006/relationships" id="2147483653" r:id="R14f783c86f854206"/>
    <p:sldLayoutId xmlns:r="http://schemas.openxmlformats.org/officeDocument/2006/relationships" id="2147483654" r:id="R34cacf52a24c4061"/>
    <p:sldLayoutId xmlns:r="http://schemas.openxmlformats.org/officeDocument/2006/relationships" id="2147483655" r:id="Rc654bf4c85b44d29"/>
    <p:sldLayoutId xmlns:r="http://schemas.openxmlformats.org/officeDocument/2006/relationships" id="2147483656" r:id="R85f8354cd7e04991"/>
    <p:sldLayoutId xmlns:r="http://schemas.openxmlformats.org/officeDocument/2006/relationships" id="2147483657" r:id="Rf4a35af0a9fb41f1"/>
    <p:sldLayoutId xmlns:r="http://schemas.openxmlformats.org/officeDocument/2006/relationships" id="2147483658" r:id="R5de892cb259941f9"/>
    <p:sldLayoutId xmlns:r="http://schemas.openxmlformats.org/officeDocument/2006/relationships" id="2147483659" r:id="Rafd860bb4b034d9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bf18906980430c" /><Relationship Type="http://schemas.openxmlformats.org/officeDocument/2006/relationships/image" Target="/ppt/media/image.png" Id="Rb9b1018571e04e7d" /><Relationship Type="http://schemas.openxmlformats.org/officeDocument/2006/relationships/notesSlide" Target="/ppt/notesSlides/notesSlide1.xml" Id="Rf54642264c2a41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a4121df97e4ad9" /><Relationship Type="http://schemas.openxmlformats.org/officeDocument/2006/relationships/image" Target="/ppt/media/image2.png" Id="R3e6089d171b745a2" /><Relationship Type="http://schemas.openxmlformats.org/officeDocument/2006/relationships/notesSlide" Target="/ppt/notesSlides/notesSlide2.xml" Id="Raee1ce4caafc45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2c861ddd81433c" /><Relationship Type="http://schemas.openxmlformats.org/officeDocument/2006/relationships/image" Target="/ppt/media/image3.png" Id="R6a67fb71617643c6" /><Relationship Type="http://schemas.openxmlformats.org/officeDocument/2006/relationships/notesSlide" Target="/ppt/notesSlides/notesSlide3.xml" Id="R06d03f41cb664f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578ff416a24903" /><Relationship Type="http://schemas.openxmlformats.org/officeDocument/2006/relationships/image" Target="/ppt/media/image4.png" Id="R457997a0789944e7" /><Relationship Type="http://schemas.openxmlformats.org/officeDocument/2006/relationships/notesSlide" Target="/ppt/notesSlides/notesSlide4.xml" Id="R86f0bf1c2814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b08047851f49f2" /><Relationship Type="http://schemas.openxmlformats.org/officeDocument/2006/relationships/image" Target="/ppt/media/image5.png" Id="Reedbf3164f334453" /><Relationship Type="http://schemas.openxmlformats.org/officeDocument/2006/relationships/notesSlide" Target="/ppt/notesSlides/notesSlide5.xml" Id="R575ae967075041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b8d206e3ff4d26" /><Relationship Type="http://schemas.openxmlformats.org/officeDocument/2006/relationships/image" Target="/ppt/media/image6.png" Id="Rae35ba1130da487d" /><Relationship Type="http://schemas.openxmlformats.org/officeDocument/2006/relationships/notesSlide" Target="/ppt/notesSlides/notesSlide6.xml" Id="R94df7f12cc7448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c1a6ce9744494d" /><Relationship Type="http://schemas.openxmlformats.org/officeDocument/2006/relationships/image" Target="/ppt/media/image7.png" Id="R7867326b519b4349" /><Relationship Type="http://schemas.openxmlformats.org/officeDocument/2006/relationships/notesSlide" Target="/ppt/notesSlides/notesSlide7.xml" Id="R86165dce386044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F4E33E6-6C5A-4B88-930A-E449DEA5C1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1018571e04e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6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1EFA55D-8093-4D3E-8A62-0AED6CBF44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089d171b745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987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97EE2C18-E7FD-4184-8249-C99641780B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7fb71617643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updated-risk-model-note-bg">
            <a:extLst xmlns:a="http://schemas.openxmlformats.org/drawingml/2006/main">
              <a:ext uri="{FF2B5EF4-FFF2-40B4-BE49-F238E27FC236}">
                <a16:creationId xmlns:a16="http://schemas.microsoft.com/office/drawing/2014/main" id="{9EFB0BB4-0F9D-46EB-A3E5-0917ABDE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38100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4" name="updated-risk-model-note">
            <a:extLst xmlns:a="http://schemas.openxmlformats.org/drawingml/2006/main">
              <a:ext uri="{FF2B5EF4-FFF2-40B4-BE49-F238E27FC236}">
                <a16:creationId xmlns:a16="http://schemas.microsoft.com/office/drawing/2014/main" id="{B8509772-4DA3-4D6A-8D06-E650C8A7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76875"/>
            <a:ext cx="3590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Heuristic score is illustrative, not a probability. No trained risk model is configured.</a:t>
            </a:r>
          </a:p>
        </p:txBody>
      </p:sp>
    </p:spTree>
    <p:extLst>
      <p:ext uri="{BB962C8B-B14F-4D97-AF65-F5344CB8AC3E}">
        <p14:creationId xmlns:p14="http://schemas.microsoft.com/office/powerpoint/2010/main" val="4632195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A841927-A5B4-4EA7-B03A-E11B54194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997a0789944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4">
            <a:extLst xmlns:a="http://schemas.openxmlformats.org/drawingml/2006/main">
              <a:ext uri="{FF2B5EF4-FFF2-40B4-BE49-F238E27FC236}">
                <a16:creationId xmlns:a16="http://schemas.microsoft.com/office/drawing/2014/main" id="{E01FD929-A36C-40EE-AADF-2F230DBC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section-4">
            <a:extLst xmlns:a="http://schemas.openxmlformats.org/drawingml/2006/main">
              <a:ext uri="{FF2B5EF4-FFF2-40B4-BE49-F238E27FC236}">
                <a16:creationId xmlns:a16="http://schemas.microsoft.com/office/drawing/2014/main" id="{8D402E07-9CB7-4F70-9FBB-83F2C5B1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PROJECT REVIEW  ·  IMPLEMENTATION STATUS</a:t>
            </a:r>
          </a:p>
        </p:txBody>
      </p:sp>
      <p:sp>
        <p:nvSpPr>
          <p:cNvPr id="5" name="brand-4">
            <a:extLst xmlns:a="http://schemas.openxmlformats.org/drawingml/2006/main">
              <a:ext uri="{FF2B5EF4-FFF2-40B4-BE49-F238E27FC236}">
                <a16:creationId xmlns:a16="http://schemas.microsoft.com/office/drawing/2014/main" id="{48F17394-FD70-4787-AC21-D5CE2D3F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AEGISONE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06B35E0B-F445-4E85-923D-67A52FAA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57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4F7E7B33-F8F6-495C-8DDA-1ED113D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Implementation Progress</a:t>
            </a:r>
          </a:p>
        </p:txBody>
      </p:sp>
      <p:sp>
        <p:nvSpPr>
          <p:cNvPr id="8" name="subtitle-4">
            <a:extLst xmlns:a="http://schemas.openxmlformats.org/drawingml/2006/main">
              <a:ext uri="{FF2B5EF4-FFF2-40B4-BE49-F238E27FC236}">
                <a16:creationId xmlns:a16="http://schemas.microsoft.com/office/drawing/2014/main" id="{70C66D13-A735-4926-9CB5-24F2813A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4C5"/>
                </a:solidFill>
                <a:latin typeface="Arial"/>
                <a:ea typeface="Arial"/>
                <a:cs typeface="Arial"/>
              </a:rPr>
              <a:t>Local sandbox build · 5 functional views · 13 backend tests passing</a:t>
            </a:r>
          </a:p>
        </p:txBody>
      </p:sp>
      <p:sp>
        <p:nvSpPr>
          <p:cNvPr id="9" name="divider-4">
            <a:extLst xmlns:a="http://schemas.openxmlformats.org/drawingml/2006/main">
              <a:ext uri="{FF2B5EF4-FFF2-40B4-BE49-F238E27FC236}">
                <a16:creationId xmlns:a16="http://schemas.microsoft.com/office/drawing/2014/main" id="{CDAB16BE-2360-4F43-AB68-C464D8D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footer-4">
            <a:extLst xmlns:a="http://schemas.openxmlformats.org/drawingml/2006/main">
              <a:ext uri="{FF2B5EF4-FFF2-40B4-BE49-F238E27FC236}">
                <a16:creationId xmlns:a16="http://schemas.microsoft.com/office/drawing/2014/main" id="{6E02BDA4-0C1D-454C-8357-243F595D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AegisOne  —  Think Before AI Acts.</a:t>
            </a:r>
          </a:p>
        </p:txBody>
      </p:sp>
      <p:sp>
        <p:nvSpPr>
          <p:cNvPr id="11" name="footnum-4">
            <a:extLst xmlns:a="http://schemas.openxmlformats.org/drawingml/2006/main">
              <a:ext uri="{FF2B5EF4-FFF2-40B4-BE49-F238E27FC236}">
                <a16:creationId xmlns:a16="http://schemas.microsoft.com/office/drawing/2014/main" id="{8E8E7989-82D6-4509-B163-83DAEC75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implemented-card">
            <a:extLst xmlns:a="http://schemas.openxmlformats.org/drawingml/2006/main">
              <a:ext uri="{FF2B5EF4-FFF2-40B4-BE49-F238E27FC236}">
                <a16:creationId xmlns:a16="http://schemas.microsoft.com/office/drawing/2014/main" id="{E1B7CDFE-E204-4E12-B7C7-3978715D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5448300" cy="4257675"/>
          </a:xfrm>
          <a:prstGeom xmlns:a="http://schemas.openxmlformats.org/drawingml/2006/main" prst="roundRect">
            <a:avLst>
              <a:gd name="adj" fmla="val 1790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13" name="remaining-card">
            <a:extLst xmlns:a="http://schemas.openxmlformats.org/drawingml/2006/main">
              <a:ext uri="{FF2B5EF4-FFF2-40B4-BE49-F238E27FC236}">
                <a16:creationId xmlns:a16="http://schemas.microsoft.com/office/drawing/2014/main" id="{BF36466E-98EB-4F77-B71E-6C38E40A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33525"/>
            <a:ext cx="5657850" cy="4257675"/>
          </a:xfrm>
          <a:prstGeom xmlns:a="http://schemas.openxmlformats.org/drawingml/2006/main" prst="roundRect">
            <a:avLst>
              <a:gd name="adj" fmla="val 1790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14" name="implemented-heading">
            <a:extLst xmlns:a="http://schemas.openxmlformats.org/drawingml/2006/main">
              <a:ext uri="{FF2B5EF4-FFF2-40B4-BE49-F238E27FC236}">
                <a16:creationId xmlns:a16="http://schemas.microsoft.com/office/drawing/2014/main" id="{E9E1C00F-AA6B-4DF2-8A0B-C84C5A09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RUNNING LOCALLY</a:t>
            </a:r>
          </a:p>
        </p:txBody>
      </p:sp>
      <p:sp>
        <p:nvSpPr>
          <p:cNvPr id="15" name="remaining-heading">
            <a:extLst xmlns:a="http://schemas.openxmlformats.org/drawingml/2006/main">
              <a:ext uri="{FF2B5EF4-FFF2-40B4-BE49-F238E27FC236}">
                <a16:creationId xmlns:a16="http://schemas.microsoft.com/office/drawing/2014/main" id="{928D525F-0941-4FF1-8CD0-CAE3D139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049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B23D"/>
                </a:solidFill>
                <a:latin typeface="Arial"/>
                <a:ea typeface="Arial"/>
                <a:cs typeface="Arial"/>
              </a:rPr>
              <a:t>NOT CONNECTED / NOT AVAILABLE</a:t>
            </a:r>
          </a:p>
        </p:txBody>
      </p:sp>
      <p:sp>
        <p:nvSpPr>
          <p:cNvPr id="16" name="implemented-rule">
            <a:extLst xmlns:a="http://schemas.openxmlformats.org/drawingml/2006/main">
              <a:ext uri="{FF2B5EF4-FFF2-40B4-BE49-F238E27FC236}">
                <a16:creationId xmlns:a16="http://schemas.microsoft.com/office/drawing/2014/main" id="{1A8F7058-0DEE-41CE-AF01-04D281C5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remaining-rule">
            <a:extLst xmlns:a="http://schemas.openxmlformats.org/drawingml/2006/main">
              <a:ext uri="{FF2B5EF4-FFF2-40B4-BE49-F238E27FC236}">
                <a16:creationId xmlns:a16="http://schemas.microsoft.com/office/drawing/2014/main" id="{E1341ADA-77E2-42B0-BEBF-EFE79994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478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impl-1-dot">
            <a:extLst xmlns:a="http://schemas.openxmlformats.org/drawingml/2006/main">
              <a:ext uri="{FF2B5EF4-FFF2-40B4-BE49-F238E27FC236}">
                <a16:creationId xmlns:a16="http://schemas.microsoft.com/office/drawing/2014/main" id="{F2052C35-14B9-4D37-8C93-20F3202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impl-1-text">
            <a:extLst xmlns:a="http://schemas.openxmlformats.org/drawingml/2006/main">
              <a:ext uri="{FF2B5EF4-FFF2-40B4-BE49-F238E27FC236}">
                <a16:creationId xmlns:a16="http://schemas.microsoft.com/office/drawing/2014/main" id="{998139EB-3136-426C-B7DE-C08F6181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SQLite sandbox seeds allowed, approval-pending, and blocked actions plus a trace and audit history.</a:t>
            </a:r>
          </a:p>
        </p:txBody>
      </p:sp>
      <p:sp>
        <p:nvSpPr>
          <p:cNvPr id="20" name="impl-2-dot">
            <a:extLst xmlns:a="http://schemas.openxmlformats.org/drawingml/2006/main">
              <a:ext uri="{FF2B5EF4-FFF2-40B4-BE49-F238E27FC236}">
                <a16:creationId xmlns:a16="http://schemas.microsoft.com/office/drawing/2014/main" id="{16D41E58-67AE-407A-AA28-6BBE1D6B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impl-2-text">
            <a:extLst xmlns:a="http://schemas.openxmlformats.org/drawingml/2006/main">
              <a:ext uri="{FF2B5EF4-FFF2-40B4-BE49-F238E27FC236}">
                <a16:creationId xmlns:a16="http://schemas.microsoft.com/office/drawing/2014/main" id="{820A112B-A957-4979-9DC5-D6CA1A0A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Action gateway validates payloads; heuristic scoring feeds independent ALLOW, REQUIRE_APPROVAL, or BLOCK rules.</a:t>
            </a:r>
          </a:p>
        </p:txBody>
      </p:sp>
      <p:sp>
        <p:nvSpPr>
          <p:cNvPr id="22" name="impl-3-dot">
            <a:extLst xmlns:a="http://schemas.openxmlformats.org/drawingml/2006/main">
              <a:ext uri="{FF2B5EF4-FFF2-40B4-BE49-F238E27FC236}">
                <a16:creationId xmlns:a16="http://schemas.microsoft.com/office/drawing/2014/main" id="{230134FB-3561-438D-9735-5709FFEE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impl-3-text">
            <a:extLst xmlns:a="http://schemas.openxmlformats.org/drawingml/2006/main">
              <a:ext uri="{FF2B5EF4-FFF2-40B4-BE49-F238E27FC236}">
                <a16:creationId xmlns:a16="http://schemas.microsoft.com/office/drawing/2014/main" id="{C7D1BE13-83DA-4E10-A1B8-D199E441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Separate approver, hash- and expiry-bound preview, policy revalidation, and a mock-only commit outbox.</a:t>
            </a:r>
          </a:p>
        </p:txBody>
      </p:sp>
      <p:sp>
        <p:nvSpPr>
          <p:cNvPr id="24" name="impl-4-dot">
            <a:extLst xmlns:a="http://schemas.openxmlformats.org/drawingml/2006/main">
              <a:ext uri="{FF2B5EF4-FFF2-40B4-BE49-F238E27FC236}">
                <a16:creationId xmlns:a16="http://schemas.microsoft.com/office/drawing/2014/main" id="{F80E5985-E033-4D55-8A1F-A9422DA4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impl-4-text">
            <a:extLst xmlns:a="http://schemas.openxmlformats.org/drawingml/2006/main">
              <a:ext uri="{FF2B5EF4-FFF2-40B4-BE49-F238E27FC236}">
                <a16:creationId xmlns:a16="http://schemas.microsoft.com/office/drawing/2014/main" id="{843143E6-F914-4A6B-8337-D54E1620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Trace/evidence, alternatives, recovery reports, hash-chain verification, and local persisted event streaming.</a:t>
            </a:r>
          </a:p>
        </p:txBody>
      </p:sp>
      <p:sp>
        <p:nvSpPr>
          <p:cNvPr id="26" name="impl-5-dot">
            <a:extLst xmlns:a="http://schemas.openxmlformats.org/drawingml/2006/main">
              <a:ext uri="{FF2B5EF4-FFF2-40B4-BE49-F238E27FC236}">
                <a16:creationId xmlns:a16="http://schemas.microsoft.com/office/drawing/2014/main" id="{B9DBC435-71F7-49BF-9551-0AFB3287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impl-5-text">
            <a:extLst xmlns:a="http://schemas.openxmlformats.org/drawingml/2006/main">
              <a:ext uri="{FF2B5EF4-FFF2-40B4-BE49-F238E27FC236}">
                <a16:creationId xmlns:a16="http://schemas.microsoft.com/office/drawing/2014/main" id="{561081C6-7D58-44CD-9F66-E514760B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Agent permissions, versioned policy thresholds, model comparison, and synthetic evaluation runs.</a:t>
            </a:r>
          </a:p>
        </p:txBody>
      </p:sp>
      <p:sp>
        <p:nvSpPr>
          <p:cNvPr id="28" name="gap-1-dot">
            <a:extLst xmlns:a="http://schemas.openxmlformats.org/drawingml/2006/main">
              <a:ext uri="{FF2B5EF4-FFF2-40B4-BE49-F238E27FC236}">
                <a16:creationId xmlns:a16="http://schemas.microsoft.com/office/drawing/2014/main" id="{B760F1BE-987E-4F64-8608-F104082C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gap-1-text">
            <a:extLst xmlns:a="http://schemas.openxmlformats.org/drawingml/2006/main">
              <a:ext uri="{FF2B5EF4-FFF2-40B4-BE49-F238E27FC236}">
                <a16:creationId xmlns:a16="http://schemas.microsoft.com/office/drawing/2014/main" id="{A2E3FB21-FAAB-47FC-B416-0656E881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Supabase runtime, Auth/RLS, tenant isolation, hosted Realtime, and production deployment. </a:t>
            </a:r>
          </a:p>
        </p:txBody>
      </p:sp>
      <p:sp>
        <p:nvSpPr>
          <p:cNvPr id="30" name="gap-2-dot">
            <a:extLst xmlns:a="http://schemas.openxmlformats.org/drawingml/2006/main">
              <a:ext uri="{FF2B5EF4-FFF2-40B4-BE49-F238E27FC236}">
                <a16:creationId xmlns:a16="http://schemas.microsoft.com/office/drawing/2014/main" id="{6D9CFEC8-A2BE-444C-8A64-74F8BF97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gap-2-text">
            <a:extLst xmlns:a="http://schemas.openxmlformats.org/drawingml/2006/main">
              <a:ext uri="{FF2B5EF4-FFF2-40B4-BE49-F238E27FC236}">
                <a16:creationId xmlns:a16="http://schemas.microsoft.com/office/drawing/2014/main" id="{8D5A325B-CDED-42A4-8A0E-F2B7DF5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Real email, file, API, or database connectors; commits write only to the local mock outbox.</a:t>
            </a:r>
          </a:p>
        </p:txBody>
      </p:sp>
      <p:sp>
        <p:nvSpPr>
          <p:cNvPr id="32" name="gap-3-dot">
            <a:extLst xmlns:a="http://schemas.openxmlformats.org/drawingml/2006/main">
              <a:ext uri="{FF2B5EF4-FFF2-40B4-BE49-F238E27FC236}">
                <a16:creationId xmlns:a16="http://schemas.microsoft.com/office/drawing/2014/main" id="{6F2EE920-2F53-48E6-8222-C6B4D62C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gap-3-text">
            <a:extLst xmlns:a="http://schemas.openxmlformats.org/drawingml/2006/main">
              <a:ext uri="{FF2B5EF4-FFF2-40B4-BE49-F238E27FC236}">
                <a16:creationId xmlns:a16="http://schemas.microsoft.com/office/drawing/2014/main" id="{57C4C30A-33FD-4161-9E05-A0B169C7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A trained risk model; no labeled training data or validated model artifact is configured.</a:t>
            </a:r>
          </a:p>
        </p:txBody>
      </p:sp>
      <p:sp>
        <p:nvSpPr>
          <p:cNvPr id="34" name="gap-4-dot">
            <a:extLst xmlns:a="http://schemas.openxmlformats.org/drawingml/2006/main">
              <a:ext uri="{FF2B5EF4-FFF2-40B4-BE49-F238E27FC236}">
                <a16:creationId xmlns:a16="http://schemas.microsoft.com/office/drawing/2014/main" id="{F7B632BE-8D5D-4D08-BB6A-C2CD323F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gap-4-text">
            <a:extLst xmlns:a="http://schemas.openxmlformats.org/drawingml/2006/main">
              <a:ext uri="{FF2B5EF4-FFF2-40B4-BE49-F238E27FC236}">
                <a16:creationId xmlns:a16="http://schemas.microsoft.com/office/drawing/2014/main" id="{30A7090F-6FD5-4DD2-8859-A55149BE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Optional LLM reasoning requires provider URL, key, and model; currently unconfigured.</a:t>
            </a:r>
          </a:p>
        </p:txBody>
      </p:sp>
      <p:sp>
        <p:nvSpPr>
          <p:cNvPr id="36" name="status-footnote-bg">
            <a:extLst xmlns:a="http://schemas.openxmlformats.org/drawingml/2006/main">
              <a:ext uri="{FF2B5EF4-FFF2-40B4-BE49-F238E27FC236}">
                <a16:creationId xmlns:a16="http://schemas.microsoft.com/office/drawing/2014/main" id="{0201EB7B-EEF3-40AF-8AF7-769FAE9D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37" name="status-footnote">
            <a:extLst xmlns:a="http://schemas.openxmlformats.org/drawingml/2006/main">
              <a:ext uri="{FF2B5EF4-FFF2-40B4-BE49-F238E27FC236}">
                <a16:creationId xmlns:a16="http://schemas.microsoft.com/office/drawing/2014/main" id="{8D56D7C8-170F-4B0A-8044-14D5FB77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4C5"/>
                </a:solidFill>
                <a:latin typeface="Arial"/>
                <a:ea typeface="Arial"/>
                <a:cs typeface="Arial"/>
              </a:rPr>
              <a:t>Local verification: 13 tests pass. Synthetic metrics do not establish production security or model quality.</a:t>
            </a:r>
          </a:p>
        </p:txBody>
      </p:sp>
    </p:spTree>
    <p:extLst>
      <p:ext uri="{BB962C8B-B14F-4D97-AF65-F5344CB8AC3E}">
        <p14:creationId xmlns:p14="http://schemas.microsoft.com/office/powerpoint/2010/main" val="14540075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8ED2DDA-EBC8-4349-AAC6-81C37531D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bf3164f33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5">
            <a:extLst xmlns:a="http://schemas.openxmlformats.org/drawingml/2006/main">
              <a:ext uri="{FF2B5EF4-FFF2-40B4-BE49-F238E27FC236}">
                <a16:creationId xmlns:a16="http://schemas.microsoft.com/office/drawing/2014/main" id="{15003740-BAD4-4988-BAC0-E736CBB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section-5">
            <a:extLst xmlns:a="http://schemas.openxmlformats.org/drawingml/2006/main">
              <a:ext uri="{FF2B5EF4-FFF2-40B4-BE49-F238E27FC236}">
                <a16:creationId xmlns:a16="http://schemas.microsoft.com/office/drawing/2014/main" id="{D840D19D-BB83-448D-B130-77345489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PROJECT REVIEW  ·  SANDBOX DEMO</a:t>
            </a:r>
          </a:p>
        </p:txBody>
      </p:sp>
      <p:sp>
        <p:nvSpPr>
          <p:cNvPr id="5" name="brand-5">
            <a:extLst xmlns:a="http://schemas.openxmlformats.org/drawingml/2006/main">
              <a:ext uri="{FF2B5EF4-FFF2-40B4-BE49-F238E27FC236}">
                <a16:creationId xmlns:a16="http://schemas.microsoft.com/office/drawing/2014/main" id="{33571020-729C-45BC-AC30-E1211918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AEGISONE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B8A25CA1-52A1-43DA-9411-B88AD7E8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57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7" name="title-5">
            <a:extLst xmlns:a="http://schemas.openxmlformats.org/drawingml/2006/main">
              <a:ext uri="{FF2B5EF4-FFF2-40B4-BE49-F238E27FC236}">
                <a16:creationId xmlns:a16="http://schemas.microsoft.com/office/drawing/2014/main" id="{D513F9CE-F666-4EC3-BF99-FCE7DC5F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Sandbox Data &amp; Verification</a:t>
            </a:r>
          </a:p>
        </p:txBody>
      </p:sp>
      <p:sp>
        <p:nvSpPr>
          <p:cNvPr id="8" name="subtitle-5">
            <a:extLst xmlns:a="http://schemas.openxmlformats.org/drawingml/2006/main">
              <a:ext uri="{FF2B5EF4-FFF2-40B4-BE49-F238E27FC236}">
                <a16:creationId xmlns:a16="http://schemas.microsoft.com/office/drawing/2014/main" id="{F4C1A91D-7EB1-4984-8B21-8955399D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4C5"/>
                </a:solidFill>
                <a:latin typeface="Arial"/>
                <a:ea typeface="Arial"/>
                <a:cs typeface="Arial"/>
              </a:rPr>
              <a:t>Seeded local records · synthetic examples · no external side effects</a:t>
            </a:r>
          </a:p>
        </p:txBody>
      </p:sp>
      <p:sp>
        <p:nvSpPr>
          <p:cNvPr id="9" name="divider-5">
            <a:extLst xmlns:a="http://schemas.openxmlformats.org/drawingml/2006/main">
              <a:ext uri="{FF2B5EF4-FFF2-40B4-BE49-F238E27FC236}">
                <a16:creationId xmlns:a16="http://schemas.microsoft.com/office/drawing/2014/main" id="{29635015-C8CD-45C0-9B81-7D8FFAE2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footer-5">
            <a:extLst xmlns:a="http://schemas.openxmlformats.org/drawingml/2006/main">
              <a:ext uri="{FF2B5EF4-FFF2-40B4-BE49-F238E27FC236}">
                <a16:creationId xmlns:a16="http://schemas.microsoft.com/office/drawing/2014/main" id="{BCF79BA4-8234-42C7-B3E8-2DD5ECF9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AegisOne  —  Think Before AI Acts.</a:t>
            </a:r>
          </a:p>
        </p:txBody>
      </p:sp>
      <p:sp>
        <p:nvSpPr>
          <p:cNvPr id="11" name="footnum-5">
            <a:extLst xmlns:a="http://schemas.openxmlformats.org/drawingml/2006/main">
              <a:ext uri="{FF2B5EF4-FFF2-40B4-BE49-F238E27FC236}">
                <a16:creationId xmlns:a16="http://schemas.microsoft.com/office/drawing/2014/main" id="{B9444FB9-63AB-4AEB-8F8C-FC4B8DCE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metric-0">
            <a:extLst xmlns:a="http://schemas.openxmlformats.org/drawingml/2006/main">
              <a:ext uri="{FF2B5EF4-FFF2-40B4-BE49-F238E27FC236}">
                <a16:creationId xmlns:a16="http://schemas.microsoft.com/office/drawing/2014/main" id="{328327CC-9364-47BA-BA4C-B06D903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2705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13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C1C8C7DB-ED83-44DB-A1CE-0A236015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8086DDD0-7DFB-47FF-8542-3A37FBEF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B4C5"/>
                </a:solidFill>
                <a:latin typeface="Arial"/>
                <a:ea typeface="Arial"/>
                <a:cs typeface="Arial"/>
              </a:rPr>
              <a:t>ACTIONS SEEDED</a:t>
            </a:r>
          </a:p>
        </p:txBody>
      </p:sp>
      <p:sp>
        <p:nvSpPr>
          <p:cNvPr id="15" name="metric-1">
            <a:extLst xmlns:a="http://schemas.openxmlformats.org/drawingml/2006/main">
              <a:ext uri="{FF2B5EF4-FFF2-40B4-BE49-F238E27FC236}">
                <a16:creationId xmlns:a16="http://schemas.microsoft.com/office/drawing/2014/main" id="{2577BBA2-021D-4994-AAB2-F988FE5B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33525"/>
            <a:ext cx="2705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16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06231D6C-1A2E-4D4F-95D7-E74378AA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38300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B2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55E2B3A8-E707-46A2-AB48-36AE072F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B4C5"/>
                </a:solidFill>
                <a:latin typeface="Arial"/>
                <a:ea typeface="Arial"/>
                <a:cs typeface="Arial"/>
              </a:rPr>
              <a:t>PENDING APPROVAL</a:t>
            </a:r>
          </a:p>
        </p:txBody>
      </p:sp>
      <p:sp>
        <p:nvSpPr>
          <p:cNvPr id="18" name="metric-2">
            <a:extLst xmlns:a="http://schemas.openxmlformats.org/drawingml/2006/main">
              <a:ext uri="{FF2B5EF4-FFF2-40B4-BE49-F238E27FC236}">
                <a16:creationId xmlns:a16="http://schemas.microsoft.com/office/drawing/2014/main" id="{8D5B48EF-16E3-4E77-A6F5-DFD6F7B9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33525"/>
            <a:ext cx="2705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1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B91B20AF-856D-41F6-8A64-7ACC66F2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73210F16-BFAD-4BB6-8F14-94C51A98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B4C5"/>
                </a:solidFill>
                <a:latin typeface="Arial"/>
                <a:ea typeface="Arial"/>
                <a:cs typeface="Arial"/>
              </a:rPr>
              <a:t>PROVENANCE TRACE</a:t>
            </a:r>
          </a:p>
        </p:txBody>
      </p:sp>
      <p:sp>
        <p:nvSpPr>
          <p:cNvPr id="21" name="metric-3">
            <a:extLst xmlns:a="http://schemas.openxmlformats.org/drawingml/2006/main">
              <a:ext uri="{FF2B5EF4-FFF2-40B4-BE49-F238E27FC236}">
                <a16:creationId xmlns:a16="http://schemas.microsoft.com/office/drawing/2014/main" id="{1DA9C84D-489E-48F3-8DF6-FA137590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33525"/>
            <a:ext cx="2705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2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77AF716E-64B7-4AA7-B3CF-6D5A715B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38300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8C79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011CBC6E-76E2-40A5-B92D-78B47CE6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336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B4C5"/>
                </a:solidFill>
                <a:latin typeface="Arial"/>
                <a:ea typeface="Arial"/>
                <a:cs typeface="Arial"/>
              </a:rPr>
              <a:t>BACKEND TESTS PASS</a:t>
            </a:r>
          </a:p>
        </p:txBody>
      </p:sp>
      <p:sp>
        <p:nvSpPr>
          <p:cNvPr id="24" name="scenario-card">
            <a:extLst xmlns:a="http://schemas.openxmlformats.org/drawingml/2006/main">
              <a:ext uri="{FF2B5EF4-FFF2-40B4-BE49-F238E27FC236}">
                <a16:creationId xmlns:a16="http://schemas.microsoft.com/office/drawing/2014/main" id="{16C33F30-7AB1-4471-AFB2-900DFE76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23875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25" name="flow-card">
            <a:extLst xmlns:a="http://schemas.openxmlformats.org/drawingml/2006/main">
              <a:ext uri="{FF2B5EF4-FFF2-40B4-BE49-F238E27FC236}">
                <a16:creationId xmlns:a16="http://schemas.microsoft.com/office/drawing/2014/main" id="{E10D563C-3CF3-4E93-BF43-833D847B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582930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26" name="scenario-heading">
            <a:extLst xmlns:a="http://schemas.openxmlformats.org/drawingml/2006/main">
              <a:ext uri="{FF2B5EF4-FFF2-40B4-BE49-F238E27FC236}">
                <a16:creationId xmlns:a16="http://schemas.microsoft.com/office/drawing/2014/main" id="{4AC3D466-C52B-455C-AF43-EA6C3513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SEEDED POLICY SCENARIOS</a:t>
            </a:r>
          </a:p>
        </p:txBody>
      </p:sp>
      <p:sp>
        <p:nvSpPr>
          <p:cNvPr id="27" name="flow-heading">
            <a:extLst xmlns:a="http://schemas.openxmlformats.org/drawingml/2006/main">
              <a:ext uri="{FF2B5EF4-FFF2-40B4-BE49-F238E27FC236}">
                <a16:creationId xmlns:a16="http://schemas.microsoft.com/office/drawing/2014/main" id="{0835009E-F741-4B7C-BFB8-8A105F3A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LOCAL ACTION LIFECYCLE</a:t>
            </a:r>
          </a:p>
        </p:txBody>
      </p:sp>
      <p:sp>
        <p:nvSpPr>
          <p:cNvPr id="28" name="scenario-rule">
            <a:extLst xmlns:a="http://schemas.openxmlformats.org/drawingml/2006/main">
              <a:ext uri="{FF2B5EF4-FFF2-40B4-BE49-F238E27FC236}">
                <a16:creationId xmlns:a16="http://schemas.microsoft.com/office/drawing/2014/main" id="{024DAFE7-FD84-474B-B319-187433DB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flow-rule">
            <a:extLst xmlns:a="http://schemas.openxmlformats.org/drawingml/2006/main">
              <a:ext uri="{FF2B5EF4-FFF2-40B4-BE49-F238E27FC236}">
                <a16:creationId xmlns:a16="http://schemas.microsoft.com/office/drawing/2014/main" id="{BA12A297-8560-40DD-8FD6-B2445BD8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14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scenario-state-0">
            <a:extLst xmlns:a="http://schemas.openxmlformats.org/drawingml/2006/main">
              <a:ext uri="{FF2B5EF4-FFF2-40B4-BE49-F238E27FC236}">
                <a16:creationId xmlns:a16="http://schemas.microsoft.com/office/drawing/2014/main" id="{685DDE62-3948-422A-BD1C-F77DBB0B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8C79A"/>
            </a:solidFill>
            <a:prstDash val="solid"/>
          </a:ln>
        </p:spPr>
      </p:sp>
      <p:sp>
        <p:nvSpPr>
          <p:cNvPr id="31" name="scenario-state-t-0">
            <a:extLst xmlns:a="http://schemas.openxmlformats.org/drawingml/2006/main">
              <a:ext uri="{FF2B5EF4-FFF2-40B4-BE49-F238E27FC236}">
                <a16:creationId xmlns:a16="http://schemas.microsoft.com/office/drawing/2014/main" id="{74355A5E-1509-45BA-BC41-0C519FD9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C79A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32" name="scenario-desc-0">
            <a:extLst xmlns:a="http://schemas.openxmlformats.org/drawingml/2006/main">
              <a:ext uri="{FF2B5EF4-FFF2-40B4-BE49-F238E27FC236}">
                <a16:creationId xmlns:a16="http://schemas.microsoft.com/office/drawing/2014/main" id="{D6FBCE35-8431-4973-975A-9783A97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67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Internal reviewer · permitted synthetic email</a:t>
            </a:r>
          </a:p>
        </p:txBody>
      </p:sp>
      <p:sp>
        <p:nvSpPr>
          <p:cNvPr id="33" name="scenario-state-1">
            <a:extLst xmlns:a="http://schemas.openxmlformats.org/drawingml/2006/main">
              <a:ext uri="{FF2B5EF4-FFF2-40B4-BE49-F238E27FC236}">
                <a16:creationId xmlns:a16="http://schemas.microsoft.com/office/drawing/2014/main" id="{AB39B2C7-E1B1-4294-820F-4D30CA3D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F3B23D"/>
            </a:solidFill>
            <a:prstDash val="solid"/>
          </a:ln>
        </p:spPr>
      </p:sp>
      <p:sp>
        <p:nvSpPr>
          <p:cNvPr id="34" name="scenario-state-t-1">
            <a:extLst xmlns:a="http://schemas.openxmlformats.org/drawingml/2006/main">
              <a:ext uri="{FF2B5EF4-FFF2-40B4-BE49-F238E27FC236}">
                <a16:creationId xmlns:a16="http://schemas.microsoft.com/office/drawing/2014/main" id="{7E893151-02A2-413B-A928-A4079D6A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3B23D"/>
                </a:solidFill>
                <a:latin typeface="Arial"/>
                <a:ea typeface="Arial"/>
                <a:cs typeface="Arial"/>
              </a:rPr>
              <a:t>REQUIRE_APPROVAL</a:t>
            </a:r>
          </a:p>
        </p:txBody>
      </p:sp>
      <p:sp>
        <p:nvSpPr>
          <p:cNvPr id="35" name="scenario-desc-1">
            <a:extLst xmlns:a="http://schemas.openxmlformats.org/drawingml/2006/main">
              <a:ext uri="{FF2B5EF4-FFF2-40B4-BE49-F238E27FC236}">
                <a16:creationId xmlns:a16="http://schemas.microsoft.com/office/drawing/2014/main" id="{9F174E38-9BE7-488E-89BB-9CE3B3D1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57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External recipient · separate reviewer required</a:t>
            </a:r>
          </a:p>
        </p:txBody>
      </p:sp>
      <p:sp>
        <p:nvSpPr>
          <p:cNvPr id="36" name="scenario-state-2">
            <a:extLst xmlns:a="http://schemas.openxmlformats.org/drawingml/2006/main">
              <a:ext uri="{FF2B5EF4-FFF2-40B4-BE49-F238E27FC236}">
                <a16:creationId xmlns:a16="http://schemas.microsoft.com/office/drawing/2014/main" id="{51D8D58D-679D-4E1E-895E-24A9FC5B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F06B72"/>
            </a:solidFill>
            <a:prstDash val="solid"/>
          </a:ln>
        </p:spPr>
      </p:sp>
      <p:sp>
        <p:nvSpPr>
          <p:cNvPr id="37" name="scenario-state-t-2">
            <a:extLst xmlns:a="http://schemas.openxmlformats.org/drawingml/2006/main">
              <a:ext uri="{FF2B5EF4-FFF2-40B4-BE49-F238E27FC236}">
                <a16:creationId xmlns:a16="http://schemas.microsoft.com/office/drawing/2014/main" id="{C73FF9A0-61FA-4CB9-ACD9-1258D0AC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06B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6B72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38" name="scenario-desc-2">
            <a:extLst xmlns:a="http://schemas.openxmlformats.org/drawingml/2006/main">
              <a:ext uri="{FF2B5EF4-FFF2-40B4-BE49-F238E27FC236}">
                <a16:creationId xmlns:a16="http://schemas.microsoft.com/office/drawing/2014/main" id="{259AA8C6-7E2E-46D9-92B9-2FFA243E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48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Restricted data to external recipient · denied</a:t>
            </a:r>
          </a:p>
        </p:txBody>
      </p:sp>
      <p:sp>
        <p:nvSpPr>
          <p:cNvPr id="39" name="flow-step-0">
            <a:extLst xmlns:a="http://schemas.openxmlformats.org/drawingml/2006/main">
              <a:ext uri="{FF2B5EF4-FFF2-40B4-BE49-F238E27FC236}">
                <a16:creationId xmlns:a16="http://schemas.microsoft.com/office/drawing/2014/main" id="{5AE80F97-3603-4365-915F-0F74743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57600"/>
            <a:ext cx="895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40" name="flow-num-0">
            <a:extLst xmlns:a="http://schemas.openxmlformats.org/drawingml/2006/main">
              <a:ext uri="{FF2B5EF4-FFF2-40B4-BE49-F238E27FC236}">
                <a16:creationId xmlns:a16="http://schemas.microsoft.com/office/drawing/2014/main" id="{E13E4211-82DD-4429-9759-1DF86A3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52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1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3C85B438-B67D-420B-9BC6-40C29504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29075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42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68E22BD2-7EBC-44C9-9608-025B68B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147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3" name="flow-step-1">
            <a:extLst xmlns:a="http://schemas.openxmlformats.org/drawingml/2006/main">
              <a:ext uri="{FF2B5EF4-FFF2-40B4-BE49-F238E27FC236}">
                <a16:creationId xmlns:a16="http://schemas.microsoft.com/office/drawing/2014/main" id="{9CB421B1-5B84-4EAA-A238-5175F2D8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57600"/>
            <a:ext cx="895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44" name="flow-num-1">
            <a:extLst xmlns:a="http://schemas.openxmlformats.org/drawingml/2006/main">
              <a:ext uri="{FF2B5EF4-FFF2-40B4-BE49-F238E27FC236}">
                <a16:creationId xmlns:a16="http://schemas.microsoft.com/office/drawing/2014/main" id="{C8BAF49D-3368-4058-AB6E-2EFFB10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AE3A879E-4A00-4955-B29D-D898FB80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29075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Risk + policy</a:t>
            </a:r>
          </a:p>
        </p:txBody>
      </p:sp>
      <p:sp>
        <p:nvSpPr>
          <p:cNvPr id="4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68F38FB-EF8E-4A26-80E3-4F239F2A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147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7" name="flow-step-2">
            <a:extLst xmlns:a="http://schemas.openxmlformats.org/drawingml/2006/main">
              <a:ext uri="{FF2B5EF4-FFF2-40B4-BE49-F238E27FC236}">
                <a16:creationId xmlns:a16="http://schemas.microsoft.com/office/drawing/2014/main" id="{9D90695D-9C2C-4E2F-B621-48CA05D9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57600"/>
            <a:ext cx="895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48" name="flow-num-2">
            <a:extLst xmlns:a="http://schemas.openxmlformats.org/drawingml/2006/main">
              <a:ext uri="{FF2B5EF4-FFF2-40B4-BE49-F238E27FC236}">
                <a16:creationId xmlns:a16="http://schemas.microsoft.com/office/drawing/2014/main" id="{182B920E-8AD9-4F66-935E-3094B542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FDB3CD73-7E9F-4A8A-8A20-DC230875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29075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50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58ACEA4-A3B4-42CF-A771-EB9E35D7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147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1" name="flow-step-3">
            <a:extLst xmlns:a="http://schemas.openxmlformats.org/drawingml/2006/main">
              <a:ext uri="{FF2B5EF4-FFF2-40B4-BE49-F238E27FC236}">
                <a16:creationId xmlns:a16="http://schemas.microsoft.com/office/drawing/2014/main" id="{96E73ECC-66D8-4E6B-B2DC-897A24F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895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52" name="flow-num-3">
            <a:extLst xmlns:a="http://schemas.openxmlformats.org/drawingml/2006/main">
              <a:ext uri="{FF2B5EF4-FFF2-40B4-BE49-F238E27FC236}">
                <a16:creationId xmlns:a16="http://schemas.microsoft.com/office/drawing/2014/main" id="{F7283E1A-E4F4-4E9E-AAFF-279DF663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52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98790779-4D6F-4ABD-9A6B-8B369EB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29075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Mock commit</a:t>
            </a:r>
          </a:p>
        </p:txBody>
      </p:sp>
      <p:sp>
        <p:nvSpPr>
          <p:cNvPr id="54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A2CB93D-DC43-4681-9197-EB20BFE2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147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5" name="flow-step-4">
            <a:extLst xmlns:a="http://schemas.openxmlformats.org/drawingml/2006/main">
              <a:ext uri="{FF2B5EF4-FFF2-40B4-BE49-F238E27FC236}">
                <a16:creationId xmlns:a16="http://schemas.microsoft.com/office/drawing/2014/main" id="{324777E8-B2BA-4547-95C2-44F6A5C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57600"/>
            <a:ext cx="895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56" name="flow-num-4">
            <a:extLst xmlns:a="http://schemas.openxmlformats.org/drawingml/2006/main">
              <a:ext uri="{FF2B5EF4-FFF2-40B4-BE49-F238E27FC236}">
                <a16:creationId xmlns:a16="http://schemas.microsoft.com/office/drawing/2014/main" id="{CD26C803-F6CA-4EE7-9C17-CC165BF0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52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7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7915583F-6ADD-446E-ACF6-D3F1AE48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029075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Audit evidence</a:t>
            </a:r>
          </a:p>
        </p:txBody>
      </p:sp>
      <p:sp>
        <p:nvSpPr>
          <p:cNvPr id="58" name="flow-note">
            <a:extLst xmlns:a="http://schemas.openxmlformats.org/drawingml/2006/main">
              <a:ext uri="{FF2B5EF4-FFF2-40B4-BE49-F238E27FC236}">
                <a16:creationId xmlns:a16="http://schemas.microsoft.com/office/drawing/2014/main" id="{C49B8337-E9F2-4B35-AE54-7FE72218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B4C5"/>
                </a:solidFill>
                <a:latin typeface="Arial"/>
                <a:ea typeface="Arial"/>
                <a:cs typeface="Arial"/>
              </a:rPr>
              <a:t>Policy remains authoritative; approval binds to the exact action hash and preview expiry.</a:t>
            </a:r>
          </a:p>
        </p:txBody>
      </p:sp>
      <p:sp>
        <p:nvSpPr>
          <p:cNvPr id="59" name="sandbox-disclosure-bg">
            <a:extLst xmlns:a="http://schemas.openxmlformats.org/drawingml/2006/main">
              <a:ext uri="{FF2B5EF4-FFF2-40B4-BE49-F238E27FC236}">
                <a16:creationId xmlns:a16="http://schemas.microsoft.com/office/drawing/2014/main" id="{813A7380-8EE1-4D9A-A769-FB6C6B55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277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60" name="sandbox-disclosure">
            <a:extLst xmlns:a="http://schemas.openxmlformats.org/drawingml/2006/main">
              <a:ext uri="{FF2B5EF4-FFF2-40B4-BE49-F238E27FC236}">
                <a16:creationId xmlns:a16="http://schemas.microsoft.com/office/drawing/2014/main" id="{B48965B1-8D3E-40C9-9B83-7EF08D0D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4C5"/>
                </a:solidFill>
                <a:latin typeface="Arial"/>
                <a:ea typeface="Arial"/>
                <a:cs typeface="Arial"/>
              </a:rPr>
              <a:t>All seeded records are synthetic. “Commit” writes only to a local mock outbox; no real system is changed.</a:t>
            </a:r>
          </a:p>
        </p:txBody>
      </p:sp>
    </p:spTree>
    <p:extLst>
      <p:ext uri="{BB962C8B-B14F-4D97-AF65-F5344CB8AC3E}">
        <p14:creationId xmlns:p14="http://schemas.microsoft.com/office/powerpoint/2010/main" val="1816438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2B08066-6E2B-4BB8-8A65-221D71CF1F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5ba1130da48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6">
            <a:extLst xmlns:a="http://schemas.openxmlformats.org/drawingml/2006/main">
              <a:ext uri="{FF2B5EF4-FFF2-40B4-BE49-F238E27FC236}">
                <a16:creationId xmlns:a16="http://schemas.microsoft.com/office/drawing/2014/main" id="{84E1BD38-B4FE-409F-914E-6BCA8B4F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section-6">
            <a:extLst xmlns:a="http://schemas.openxmlformats.org/drawingml/2006/main">
              <a:ext uri="{FF2B5EF4-FFF2-40B4-BE49-F238E27FC236}">
                <a16:creationId xmlns:a16="http://schemas.microsoft.com/office/drawing/2014/main" id="{8B7B1A35-2D7C-4D82-83C7-A1ED88C5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PROJECT REVIEW  ·  BOUNDARIES &amp; LIMITATIONS</a:t>
            </a:r>
          </a:p>
        </p:txBody>
      </p:sp>
      <p:sp>
        <p:nvSpPr>
          <p:cNvPr id="5" name="brand-6">
            <a:extLst xmlns:a="http://schemas.openxmlformats.org/drawingml/2006/main">
              <a:ext uri="{FF2B5EF4-FFF2-40B4-BE49-F238E27FC236}">
                <a16:creationId xmlns:a16="http://schemas.microsoft.com/office/drawing/2014/main" id="{C94E2DA9-E207-4314-8A23-97468EFD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AEGISONE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2419C84C-5812-4DF3-9187-116A672E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57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7" name="title-6">
            <a:extLst xmlns:a="http://schemas.openxmlformats.org/drawingml/2006/main">
              <a:ext uri="{FF2B5EF4-FFF2-40B4-BE49-F238E27FC236}">
                <a16:creationId xmlns:a16="http://schemas.microsoft.com/office/drawing/2014/main" id="{8A91160D-9E3E-426F-AEAB-D6DCE217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Sandbox Capabilities &amp; Production Gaps</a:t>
            </a:r>
          </a:p>
        </p:txBody>
      </p:sp>
      <p:sp>
        <p:nvSpPr>
          <p:cNvPr id="8" name="subtitle-6">
            <a:extLst xmlns:a="http://schemas.openxmlformats.org/drawingml/2006/main">
              <a:ext uri="{FF2B5EF4-FFF2-40B4-BE49-F238E27FC236}">
                <a16:creationId xmlns:a16="http://schemas.microsoft.com/office/drawing/2014/main" id="{10C82390-A2DE-45AE-B716-EF07EF6F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4C5"/>
                </a:solidFill>
                <a:latin typeface="Arial"/>
                <a:ea typeface="Arial"/>
                <a:cs typeface="Arial"/>
              </a:rPr>
              <a:t>What the current build demonstrates—and what still requires real infrastructure</a:t>
            </a:r>
          </a:p>
        </p:txBody>
      </p:sp>
      <p:sp>
        <p:nvSpPr>
          <p:cNvPr id="9" name="divider-6">
            <a:extLst xmlns:a="http://schemas.openxmlformats.org/drawingml/2006/main">
              <a:ext uri="{FF2B5EF4-FFF2-40B4-BE49-F238E27FC236}">
                <a16:creationId xmlns:a16="http://schemas.microsoft.com/office/drawing/2014/main" id="{4DEDE543-4475-4C20-9FCB-E95666B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footer-6">
            <a:extLst xmlns:a="http://schemas.openxmlformats.org/drawingml/2006/main">
              <a:ext uri="{FF2B5EF4-FFF2-40B4-BE49-F238E27FC236}">
                <a16:creationId xmlns:a16="http://schemas.microsoft.com/office/drawing/2014/main" id="{62128F97-F405-473F-BC9A-75576E9E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AegisOne  —  Think Before AI Acts.</a:t>
            </a:r>
          </a:p>
        </p:txBody>
      </p:sp>
      <p:sp>
        <p:nvSpPr>
          <p:cNvPr id="11" name="footnum-6">
            <a:extLst xmlns:a="http://schemas.openxmlformats.org/drawingml/2006/main">
              <a:ext uri="{FF2B5EF4-FFF2-40B4-BE49-F238E27FC236}">
                <a16:creationId xmlns:a16="http://schemas.microsoft.com/office/drawing/2014/main" id="{8BEDC99F-0994-4F97-B887-227E2062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sandbox-card">
            <a:extLst xmlns:a="http://schemas.openxmlformats.org/drawingml/2006/main">
              <a:ext uri="{FF2B5EF4-FFF2-40B4-BE49-F238E27FC236}">
                <a16:creationId xmlns:a16="http://schemas.microsoft.com/office/drawing/2014/main" id="{FE80984E-ADB6-4214-BF9E-16AE7CC3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54483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13" name="production-card">
            <a:extLst xmlns:a="http://schemas.openxmlformats.org/drawingml/2006/main">
              <a:ext uri="{FF2B5EF4-FFF2-40B4-BE49-F238E27FC236}">
                <a16:creationId xmlns:a16="http://schemas.microsoft.com/office/drawing/2014/main" id="{7D39FFDE-5E7B-4AD8-BC69-521AC1EC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33525"/>
            <a:ext cx="56578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14" name="sandbox-heading">
            <a:extLst xmlns:a="http://schemas.openxmlformats.org/drawingml/2006/main">
              <a:ext uri="{FF2B5EF4-FFF2-40B4-BE49-F238E27FC236}">
                <a16:creationId xmlns:a16="http://schemas.microsoft.com/office/drawing/2014/main" id="{4ABD4783-18E2-4328-AC3E-825C08A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IMPLEMENTED IN THE LOCAL SANDBOX</a:t>
            </a:r>
          </a:p>
        </p:txBody>
      </p:sp>
      <p:sp>
        <p:nvSpPr>
          <p:cNvPr id="15" name="production-heading">
            <a:extLst xmlns:a="http://schemas.openxmlformats.org/drawingml/2006/main">
              <a:ext uri="{FF2B5EF4-FFF2-40B4-BE49-F238E27FC236}">
                <a16:creationId xmlns:a16="http://schemas.microsoft.com/office/drawing/2014/main" id="{81F1DB95-A3C0-4865-81D5-A4EC6720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3B2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B23D"/>
                </a:solidFill>
                <a:latin typeface="Arial"/>
                <a:ea typeface="Arial"/>
                <a:cs typeface="Arial"/>
              </a:rPr>
              <a:t>REQUIRES PRODUCTION WORK</a:t>
            </a:r>
          </a:p>
        </p:txBody>
      </p:sp>
      <p:sp>
        <p:nvSpPr>
          <p:cNvPr id="16" name="sandbox-rule">
            <a:extLst xmlns:a="http://schemas.openxmlformats.org/drawingml/2006/main">
              <a:ext uri="{FF2B5EF4-FFF2-40B4-BE49-F238E27FC236}">
                <a16:creationId xmlns:a16="http://schemas.microsoft.com/office/drawing/2014/main" id="{879568D7-B0FB-47F1-BC44-0C7EA797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production-rule">
            <a:extLst xmlns:a="http://schemas.openxmlformats.org/drawingml/2006/main">
              <a:ext uri="{FF2B5EF4-FFF2-40B4-BE49-F238E27FC236}">
                <a16:creationId xmlns:a16="http://schemas.microsoft.com/office/drawing/2014/main" id="{485ACA39-40BF-4B2A-8C39-449A0A76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85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bound-0-dot">
            <a:extLst xmlns:a="http://schemas.openxmlformats.org/drawingml/2006/main">
              <a:ext uri="{FF2B5EF4-FFF2-40B4-BE49-F238E27FC236}">
                <a16:creationId xmlns:a16="http://schemas.microsoft.com/office/drawing/2014/main" id="{55DB208A-5781-4EC4-830E-C1BF33E4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bound-0-text">
            <a:extLst xmlns:a="http://schemas.openxmlformats.org/drawingml/2006/main">
              <a:ext uri="{FF2B5EF4-FFF2-40B4-BE49-F238E27FC236}">
                <a16:creationId xmlns:a16="http://schemas.microsoft.com/office/drawing/2014/main" id="{143A185B-4104-4640-8D01-21144B13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Node.js service serves the frontend and API from one origin; SQLite stores local demo records.</a:t>
            </a:r>
          </a:p>
        </p:txBody>
      </p:sp>
      <p:sp>
        <p:nvSpPr>
          <p:cNvPr id="20" name="bound-1-dot">
            <a:extLst xmlns:a="http://schemas.openxmlformats.org/drawingml/2006/main">
              <a:ext uri="{FF2B5EF4-FFF2-40B4-BE49-F238E27FC236}">
                <a16:creationId xmlns:a16="http://schemas.microsoft.com/office/drawing/2014/main" id="{770E8611-DCFF-44EB-A902-6E1C6506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bound-1-text">
            <a:extLst xmlns:a="http://schemas.openxmlformats.org/drawingml/2006/main">
              <a:ext uri="{FF2B5EF4-FFF2-40B4-BE49-F238E27FC236}">
                <a16:creationId xmlns:a16="http://schemas.microsoft.com/office/drawing/2014/main" id="{4D35352C-4B99-4145-B19A-DEC4E2D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Role-based operator, approver, and admin demo tokens; sandbox login is local-only.</a:t>
            </a:r>
          </a:p>
        </p:txBody>
      </p:sp>
      <p:sp>
        <p:nvSpPr>
          <p:cNvPr id="22" name="bound-2-dot">
            <a:extLst xmlns:a="http://schemas.openxmlformats.org/drawingml/2006/main">
              <a:ext uri="{FF2B5EF4-FFF2-40B4-BE49-F238E27FC236}">
                <a16:creationId xmlns:a16="http://schemas.microsoft.com/office/drawing/2014/main" id="{D16AA290-ECAC-4C42-87F2-D40DFD2A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bound-2-text">
            <a:extLst xmlns:a="http://schemas.openxmlformats.org/drawingml/2006/main">
              <a:ext uri="{FF2B5EF4-FFF2-40B4-BE49-F238E27FC236}">
                <a16:creationId xmlns:a16="http://schemas.microsoft.com/office/drawing/2014/main" id="{7A326DE5-8152-49EE-BC5A-E4BA5BCC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HMAC-bound preview/approval and SHA-256 audit hash chain; hashes do not make storage immutable.</a:t>
            </a:r>
          </a:p>
        </p:txBody>
      </p:sp>
      <p:sp>
        <p:nvSpPr>
          <p:cNvPr id="24" name="bound-3-dot">
            <a:extLst xmlns:a="http://schemas.openxmlformats.org/drawingml/2006/main">
              <a:ext uri="{FF2B5EF4-FFF2-40B4-BE49-F238E27FC236}">
                <a16:creationId xmlns:a16="http://schemas.microsoft.com/office/drawing/2014/main" id="{B418DCAA-31A1-43FC-BBD8-3BEFB48E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bound-3-text">
            <a:extLst xmlns:a="http://schemas.openxmlformats.org/drawingml/2006/main">
              <a:ext uri="{FF2B5EF4-FFF2-40B4-BE49-F238E27FC236}">
                <a16:creationId xmlns:a16="http://schemas.microsoft.com/office/drawing/2014/main" id="{786A2FB4-7696-455F-A1D0-EBF58131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Heuristic risk is an illustrative score, not a probability. Local SSE polls persisted events.</a:t>
            </a:r>
          </a:p>
        </p:txBody>
      </p:sp>
      <p:sp>
        <p:nvSpPr>
          <p:cNvPr id="26" name="bound-4-dot">
            <a:extLst xmlns:a="http://schemas.openxmlformats.org/drawingml/2006/main">
              <a:ext uri="{FF2B5EF4-FFF2-40B4-BE49-F238E27FC236}">
                <a16:creationId xmlns:a16="http://schemas.microsoft.com/office/drawing/2014/main" id="{712BDF6F-A3C9-409F-B372-E6DB2B8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bound-4-text">
            <a:extLst xmlns:a="http://schemas.openxmlformats.org/drawingml/2006/main">
              <a:ext uri="{FF2B5EF4-FFF2-40B4-BE49-F238E27FC236}">
                <a16:creationId xmlns:a16="http://schemas.microsoft.com/office/drawing/2014/main" id="{7DB14485-E143-4E26-B196-19D46CF4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13 automated backend tests pass; evaluation cases are synthetic and limited.</a:t>
            </a:r>
          </a:p>
        </p:txBody>
      </p:sp>
      <p:sp>
        <p:nvSpPr>
          <p:cNvPr id="28" name="prod-0-dot">
            <a:extLst xmlns:a="http://schemas.openxmlformats.org/drawingml/2006/main">
              <a:ext uri="{FF2B5EF4-FFF2-40B4-BE49-F238E27FC236}">
                <a16:creationId xmlns:a16="http://schemas.microsoft.com/office/drawing/2014/main" id="{C94B90D1-C573-4278-8B0A-B7B210C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prod-0-text">
            <a:extLst xmlns:a="http://schemas.openxmlformats.org/drawingml/2006/main">
              <a:ext uri="{FF2B5EF4-FFF2-40B4-BE49-F238E27FC236}">
                <a16:creationId xmlns:a16="http://schemas.microsoft.com/office/drawing/2014/main" id="{A9207DFF-1BA3-49BF-A91C-6F818612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38375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Connect Supabase Auth, tenant isolation, RLS, durable Realtime, backups, and deployment.</a:t>
            </a:r>
          </a:p>
        </p:txBody>
      </p:sp>
      <p:sp>
        <p:nvSpPr>
          <p:cNvPr id="30" name="prod-1-dot">
            <a:extLst xmlns:a="http://schemas.openxmlformats.org/drawingml/2006/main">
              <a:ext uri="{FF2B5EF4-FFF2-40B4-BE49-F238E27FC236}">
                <a16:creationId xmlns:a16="http://schemas.microsoft.com/office/drawing/2014/main" id="{CA4AF19A-00C4-4C45-BC7A-C97E65B6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81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prod-1-text">
            <a:extLst xmlns:a="http://schemas.openxmlformats.org/drawingml/2006/main">
              <a:ext uri="{FF2B5EF4-FFF2-40B4-BE49-F238E27FC236}">
                <a16:creationId xmlns:a16="http://schemas.microsoft.com/office/drawing/2014/main" id="{CBA517D7-0A26-4552-A2A3-B4C32073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6075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Integrate real tools/connectors and validate authorization, retries, idempotency, and recovery end to end.</a:t>
            </a:r>
          </a:p>
        </p:txBody>
      </p:sp>
      <p:sp>
        <p:nvSpPr>
          <p:cNvPr id="32" name="prod-2-dot">
            <a:extLst xmlns:a="http://schemas.openxmlformats.org/drawingml/2006/main">
              <a:ext uri="{FF2B5EF4-FFF2-40B4-BE49-F238E27FC236}">
                <a16:creationId xmlns:a16="http://schemas.microsoft.com/office/drawing/2014/main" id="{3F247AE4-B38D-466E-BFC8-DEC59C8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29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prod-2-text">
            <a:extLst xmlns:a="http://schemas.openxmlformats.org/drawingml/2006/main">
              <a:ext uri="{FF2B5EF4-FFF2-40B4-BE49-F238E27FC236}">
                <a16:creationId xmlns:a16="http://schemas.microsoft.com/office/drawing/2014/main" id="{D87FF09C-3853-4FCF-919A-3EAEB31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3775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Collect labeled data, train and independently validate any supervised risk model.</a:t>
            </a:r>
          </a:p>
        </p:txBody>
      </p:sp>
      <p:sp>
        <p:nvSpPr>
          <p:cNvPr id="34" name="prod-3-dot">
            <a:extLst xmlns:a="http://schemas.openxmlformats.org/drawingml/2006/main">
              <a:ext uri="{FF2B5EF4-FFF2-40B4-BE49-F238E27FC236}">
                <a16:creationId xmlns:a16="http://schemas.microsoft.com/office/drawing/2014/main" id="{6C0AF936-FA56-4B13-9A3A-0B301361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prod-3-text">
            <a:extLst xmlns:a="http://schemas.openxmlformats.org/drawingml/2006/main">
              <a:ext uri="{FF2B5EF4-FFF2-40B4-BE49-F238E27FC236}">
                <a16:creationId xmlns:a16="http://schemas.microsoft.com/office/drawing/2014/main" id="{081ADE21-AE0F-4205-836A-F9B9B81B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81475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Review provider data handling before configuring optional LLM reasoning.</a:t>
            </a:r>
          </a:p>
        </p:txBody>
      </p:sp>
      <p:sp>
        <p:nvSpPr>
          <p:cNvPr id="36" name="prod-4-dot">
            <a:extLst xmlns:a="http://schemas.openxmlformats.org/drawingml/2006/main">
              <a:ext uri="{FF2B5EF4-FFF2-40B4-BE49-F238E27FC236}">
                <a16:creationId xmlns:a16="http://schemas.microsoft.com/office/drawing/2014/main" id="{D8D4B87A-1EA4-4BC8-85D9-96484A8C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244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prod-4-text">
            <a:extLst xmlns:a="http://schemas.openxmlformats.org/drawingml/2006/main">
              <a:ext uri="{FF2B5EF4-FFF2-40B4-BE49-F238E27FC236}">
                <a16:creationId xmlns:a16="http://schemas.microsoft.com/office/drawing/2014/main" id="{08BF6C7A-C687-42EC-9856-D0F2E7A9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29175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Add hosted end-to-end security tests, observability, retention controls, and compliance review.</a:t>
            </a:r>
          </a:p>
        </p:txBody>
      </p:sp>
      <p:sp>
        <p:nvSpPr>
          <p:cNvPr id="38" name="limitation-note-bg">
            <a:extLst xmlns:a="http://schemas.openxmlformats.org/drawingml/2006/main">
              <a:ext uri="{FF2B5EF4-FFF2-40B4-BE49-F238E27FC236}">
                <a16:creationId xmlns:a16="http://schemas.microsoft.com/office/drawing/2014/main" id="{632A51B4-A63D-4C2E-B502-7A9D694C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39" name="limitation-note">
            <a:extLst xmlns:a="http://schemas.openxmlformats.org/drawingml/2006/main">
              <a:ext uri="{FF2B5EF4-FFF2-40B4-BE49-F238E27FC236}">
                <a16:creationId xmlns:a16="http://schemas.microsoft.com/office/drawing/2014/main" id="{F1934E1E-49D4-4031-9765-2BD4C5B5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B4C5"/>
                </a:solidFill>
                <a:latin typeface="Arial"/>
                <a:ea typeface="Arial"/>
                <a:cs typeface="Arial"/>
              </a:rPr>
              <a:t>Sandbox results are not production telemetry and do not establish security efficacy.</a:t>
            </a:r>
          </a:p>
        </p:txBody>
      </p:sp>
    </p:spTree>
    <p:extLst>
      <p:ext uri="{BB962C8B-B14F-4D97-AF65-F5344CB8AC3E}">
        <p14:creationId xmlns:p14="http://schemas.microsoft.com/office/powerpoint/2010/main" val="3889347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5CE978D-98F7-4A35-9FFB-8790F21B0F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7326b519b43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7">
            <a:extLst xmlns:a="http://schemas.openxmlformats.org/drawingml/2006/main">
              <a:ext uri="{FF2B5EF4-FFF2-40B4-BE49-F238E27FC236}">
                <a16:creationId xmlns:a16="http://schemas.microsoft.com/office/drawing/2014/main" id="{243AA0D0-283C-48F7-809A-C8E76967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section-7">
            <a:extLst xmlns:a="http://schemas.openxmlformats.org/drawingml/2006/main">
              <a:ext uri="{FF2B5EF4-FFF2-40B4-BE49-F238E27FC236}">
                <a16:creationId xmlns:a16="http://schemas.microsoft.com/office/drawing/2014/main" id="{63AD2983-DCB8-42D6-99F5-60C181A8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PROJECT REVIEW  ·  NEXT STEPS</a:t>
            </a:r>
          </a:p>
        </p:txBody>
      </p:sp>
      <p:sp>
        <p:nvSpPr>
          <p:cNvPr id="5" name="brand-7">
            <a:extLst xmlns:a="http://schemas.openxmlformats.org/drawingml/2006/main">
              <a:ext uri="{FF2B5EF4-FFF2-40B4-BE49-F238E27FC236}">
                <a16:creationId xmlns:a16="http://schemas.microsoft.com/office/drawing/2014/main" id="{6C6F4694-E6E0-4A0A-B597-F5C84D0B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AEGISONE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187E0F52-453E-41EA-99DA-190684ED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57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54CC6A91-607D-469A-8D8D-782FFA88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Production Readiness Plan</a:t>
            </a:r>
          </a:p>
        </p:txBody>
      </p:sp>
      <p:sp>
        <p:nvSpPr>
          <p:cNvPr id="8" name="subtitle-7">
            <a:extLst xmlns:a="http://schemas.openxmlformats.org/drawingml/2006/main">
              <a:ext uri="{FF2B5EF4-FFF2-40B4-BE49-F238E27FC236}">
                <a16:creationId xmlns:a16="http://schemas.microsoft.com/office/drawing/2014/main" id="{69DB68AC-55D1-4F79-8C72-69ED548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5B4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4C5"/>
                </a:solidFill>
                <a:latin typeface="Arial"/>
                <a:ea typeface="Arial"/>
                <a:cs typeface="Arial"/>
              </a:rPr>
              <a:t>The local product baseline is implemented; these steps close the deployment gap</a:t>
            </a:r>
          </a:p>
        </p:txBody>
      </p:sp>
      <p:sp>
        <p:nvSpPr>
          <p:cNvPr id="9" name="divider-7">
            <a:extLst xmlns:a="http://schemas.openxmlformats.org/drawingml/2006/main">
              <a:ext uri="{FF2B5EF4-FFF2-40B4-BE49-F238E27FC236}">
                <a16:creationId xmlns:a16="http://schemas.microsoft.com/office/drawing/2014/main" id="{3CEC141F-0BAB-4A44-ADF9-D08A600F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footer-7">
            <a:extLst xmlns:a="http://schemas.openxmlformats.org/drawingml/2006/main">
              <a:ext uri="{FF2B5EF4-FFF2-40B4-BE49-F238E27FC236}">
                <a16:creationId xmlns:a16="http://schemas.microsoft.com/office/drawing/2014/main" id="{B096ECC0-B585-4915-8EC1-17F7D35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AegisOne  —  Think Before AI Acts.</a:t>
            </a:r>
          </a:p>
        </p:txBody>
      </p:sp>
      <p:sp>
        <p:nvSpPr>
          <p:cNvPr id="11" name="footnum-7">
            <a:extLst xmlns:a="http://schemas.openxmlformats.org/drawingml/2006/main">
              <a:ext uri="{FF2B5EF4-FFF2-40B4-BE49-F238E27FC236}">
                <a16:creationId xmlns:a16="http://schemas.microsoft.com/office/drawing/2014/main" id="{291E62F9-C898-46B4-967D-012FDB15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73849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3849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" name="plan-card-0">
            <a:extLst xmlns:a="http://schemas.openxmlformats.org/drawingml/2006/main">
              <a:ext uri="{FF2B5EF4-FFF2-40B4-BE49-F238E27FC236}">
                <a16:creationId xmlns:a16="http://schemas.microsoft.com/office/drawing/2014/main" id="{FEDFC146-1314-4F94-A676-AEC933EC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2705100" cy="45339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13" name="plan-num-bg-0">
            <a:extLst xmlns:a="http://schemas.openxmlformats.org/drawingml/2006/main">
              <a:ext uri="{FF2B5EF4-FFF2-40B4-BE49-F238E27FC236}">
                <a16:creationId xmlns:a16="http://schemas.microsoft.com/office/drawing/2014/main" id="{D51DB643-AD9B-4EFA-9C67-1C832697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5143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0C6E8"/>
            </a:solidFill>
            <a:prstDash val="solid"/>
          </a:ln>
        </p:spPr>
      </p:sp>
      <p:sp>
        <p:nvSpPr>
          <p:cNvPr id="14" name="plan-num-0">
            <a:extLst xmlns:a="http://schemas.openxmlformats.org/drawingml/2006/main">
              <a:ext uri="{FF2B5EF4-FFF2-40B4-BE49-F238E27FC236}">
                <a16:creationId xmlns:a16="http://schemas.microsoft.com/office/drawing/2014/main" id="{E001924D-4346-455D-8FA9-837AE57C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plan-title-0">
            <a:extLst xmlns:a="http://schemas.openxmlformats.org/drawingml/2006/main">
              <a:ext uri="{FF2B5EF4-FFF2-40B4-BE49-F238E27FC236}">
                <a16:creationId xmlns:a16="http://schemas.microsoft.com/office/drawing/2014/main" id="{0C088513-4832-4010-BC6E-DBA3C0AC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Tenant &amp; Identity</a:t>
            </a:r>
          </a:p>
        </p:txBody>
      </p:sp>
      <p:sp>
        <p:nvSpPr>
          <p:cNvPr id="16" name="plan-0-0-dot">
            <a:extLst xmlns:a="http://schemas.openxmlformats.org/drawingml/2006/main">
              <a:ext uri="{FF2B5EF4-FFF2-40B4-BE49-F238E27FC236}">
                <a16:creationId xmlns:a16="http://schemas.microsoft.com/office/drawing/2014/main" id="{C8E48BD7-E584-46AB-9EF4-B6946E2B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plan-0-0-text">
            <a:extLst xmlns:a="http://schemas.openxmlformats.org/drawingml/2006/main">
              <a:ext uri="{FF2B5EF4-FFF2-40B4-BE49-F238E27FC236}">
                <a16:creationId xmlns:a16="http://schemas.microsoft.com/office/drawing/2014/main" id="{70BDCA49-BBEB-46C7-A3A1-3715E8E7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Connect Supabase Auth</a:t>
            </a:r>
          </a:p>
        </p:txBody>
      </p:sp>
      <p:sp>
        <p:nvSpPr>
          <p:cNvPr id="18" name="plan-0-1-dot">
            <a:extLst xmlns:a="http://schemas.openxmlformats.org/drawingml/2006/main">
              <a:ext uri="{FF2B5EF4-FFF2-40B4-BE49-F238E27FC236}">
                <a16:creationId xmlns:a16="http://schemas.microsoft.com/office/drawing/2014/main" id="{5D68E3C2-E9C9-4F87-8600-25744C92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plan-0-1-text">
            <a:extLst xmlns:a="http://schemas.openxmlformats.org/drawingml/2006/main">
              <a:ext uri="{FF2B5EF4-FFF2-40B4-BE49-F238E27FC236}">
                <a16:creationId xmlns:a16="http://schemas.microsoft.com/office/drawing/2014/main" id="{7FE187FF-9CAF-417B-A67A-26D85C25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Enforce RLS and tenant isolation</a:t>
            </a:r>
          </a:p>
        </p:txBody>
      </p:sp>
      <p:sp>
        <p:nvSpPr>
          <p:cNvPr id="20" name="plan-0-2-dot">
            <a:extLst xmlns:a="http://schemas.openxmlformats.org/drawingml/2006/main">
              <a:ext uri="{FF2B5EF4-FFF2-40B4-BE49-F238E27FC236}">
                <a16:creationId xmlns:a16="http://schemas.microsoft.com/office/drawing/2014/main" id="{6641B5FB-6214-4C21-A2C7-297224EC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plan-0-2-text">
            <a:extLst xmlns:a="http://schemas.openxmlformats.org/drawingml/2006/main">
              <a:ext uri="{FF2B5EF4-FFF2-40B4-BE49-F238E27FC236}">
                <a16:creationId xmlns:a16="http://schemas.microsoft.com/office/drawing/2014/main" id="{67CCBCEF-130E-4885-B268-A6E01AF5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Define secrets and environment setup</a:t>
            </a:r>
          </a:p>
        </p:txBody>
      </p:sp>
      <p:sp>
        <p:nvSpPr>
          <p:cNvPr id="22" name="plan-delivery-bg-0">
            <a:extLst xmlns:a="http://schemas.openxmlformats.org/drawingml/2006/main">
              <a:ext uri="{FF2B5EF4-FFF2-40B4-BE49-F238E27FC236}">
                <a16:creationId xmlns:a16="http://schemas.microsoft.com/office/drawing/2014/main" id="{2F263DB2-7A78-4BC3-8BD9-58404C54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400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8C79A"/>
            </a:solidFill>
            <a:prstDash val="solid"/>
          </a:ln>
        </p:spPr>
      </p:sp>
      <p:sp>
        <p:nvSpPr>
          <p:cNvPr id="23" name="plan-delivery-label-0">
            <a:extLst xmlns:a="http://schemas.openxmlformats.org/drawingml/2006/main">
              <a:ext uri="{FF2B5EF4-FFF2-40B4-BE49-F238E27FC236}">
                <a16:creationId xmlns:a16="http://schemas.microsoft.com/office/drawing/2014/main" id="{B8D68DC5-5267-4283-814A-AFC8A0A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2075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C79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24" name="plan-delivery-0">
            <a:extLst xmlns:a="http://schemas.openxmlformats.org/drawingml/2006/main">
              <a:ext uri="{FF2B5EF4-FFF2-40B4-BE49-F238E27FC236}">
                <a16:creationId xmlns:a16="http://schemas.microsoft.com/office/drawing/2014/main" id="{682EA1BC-36A4-42E8-BC4B-EEFD5483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Isolated tenant data verified</a:t>
            </a:r>
          </a:p>
        </p:txBody>
      </p:sp>
      <p:sp>
        <p:nvSpPr>
          <p:cNvPr id="25" name="plan-card-1">
            <a:extLst xmlns:a="http://schemas.openxmlformats.org/drawingml/2006/main">
              <a:ext uri="{FF2B5EF4-FFF2-40B4-BE49-F238E27FC236}">
                <a16:creationId xmlns:a16="http://schemas.microsoft.com/office/drawing/2014/main" id="{8C1335D8-10D4-4351-8542-75F1B59F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52575"/>
            <a:ext cx="2705100" cy="45339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26" name="plan-num-bg-1">
            <a:extLst xmlns:a="http://schemas.openxmlformats.org/drawingml/2006/main">
              <a:ext uri="{FF2B5EF4-FFF2-40B4-BE49-F238E27FC236}">
                <a16:creationId xmlns:a16="http://schemas.microsoft.com/office/drawing/2014/main" id="{95EAFF86-3C84-4A62-9D94-99BE2C71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24025"/>
            <a:ext cx="5143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0C6E8"/>
            </a:solidFill>
            <a:prstDash val="solid"/>
          </a:ln>
        </p:spPr>
      </p:sp>
      <p:sp>
        <p:nvSpPr>
          <p:cNvPr id="27" name="plan-num-1">
            <a:extLst xmlns:a="http://schemas.openxmlformats.org/drawingml/2006/main">
              <a:ext uri="{FF2B5EF4-FFF2-40B4-BE49-F238E27FC236}">
                <a16:creationId xmlns:a16="http://schemas.microsoft.com/office/drawing/2014/main" id="{C79A6F6F-2E92-4693-8557-B403B9D8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90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plan-title-1">
            <a:extLst xmlns:a="http://schemas.openxmlformats.org/drawingml/2006/main">
              <a:ext uri="{FF2B5EF4-FFF2-40B4-BE49-F238E27FC236}">
                <a16:creationId xmlns:a16="http://schemas.microsoft.com/office/drawing/2014/main" id="{8F0F1762-66B1-4744-A945-00006AC8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Real Integrations</a:t>
            </a:r>
          </a:p>
        </p:txBody>
      </p:sp>
      <p:sp>
        <p:nvSpPr>
          <p:cNvPr id="29" name="plan-1-0-dot">
            <a:extLst xmlns:a="http://schemas.openxmlformats.org/drawingml/2006/main">
              <a:ext uri="{FF2B5EF4-FFF2-40B4-BE49-F238E27FC236}">
                <a16:creationId xmlns:a16="http://schemas.microsoft.com/office/drawing/2014/main" id="{98F5CFD1-24B6-4039-BFF8-5933062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48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plan-1-0-text">
            <a:extLst xmlns:a="http://schemas.openxmlformats.org/drawingml/2006/main">
              <a:ext uri="{FF2B5EF4-FFF2-40B4-BE49-F238E27FC236}">
                <a16:creationId xmlns:a16="http://schemas.microsoft.com/office/drawing/2014/main" id="{4B5AB2AB-6C4E-4470-88E0-04AD4BB8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Add one connector at a time</a:t>
            </a:r>
          </a:p>
        </p:txBody>
      </p:sp>
      <p:sp>
        <p:nvSpPr>
          <p:cNvPr id="31" name="plan-1-1-dot">
            <a:extLst xmlns:a="http://schemas.openxmlformats.org/drawingml/2006/main">
              <a:ext uri="{FF2B5EF4-FFF2-40B4-BE49-F238E27FC236}">
                <a16:creationId xmlns:a16="http://schemas.microsoft.com/office/drawing/2014/main" id="{F761D1E6-C804-42A3-AE06-FCCAC613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plan-1-1-text">
            <a:extLst xmlns:a="http://schemas.openxmlformats.org/drawingml/2006/main">
              <a:ext uri="{FF2B5EF4-FFF2-40B4-BE49-F238E27FC236}">
                <a16:creationId xmlns:a16="http://schemas.microsoft.com/office/drawing/2014/main" id="{F484880E-1372-4D28-A244-332820CE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43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Revalidate at commit and on retries</a:t>
            </a:r>
          </a:p>
        </p:txBody>
      </p:sp>
      <p:sp>
        <p:nvSpPr>
          <p:cNvPr id="33" name="plan-1-2-dot">
            <a:extLst xmlns:a="http://schemas.openxmlformats.org/drawingml/2006/main">
              <a:ext uri="{FF2B5EF4-FFF2-40B4-BE49-F238E27FC236}">
                <a16:creationId xmlns:a16="http://schemas.microsoft.com/office/drawing/2014/main" id="{1264CC08-8FE1-4F36-96F9-2AEBB809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291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plan-1-2-text">
            <a:extLst xmlns:a="http://schemas.openxmlformats.org/drawingml/2006/main">
              <a:ext uri="{FF2B5EF4-FFF2-40B4-BE49-F238E27FC236}">
                <a16:creationId xmlns:a16="http://schemas.microsoft.com/office/drawing/2014/main" id="{F229F9D3-BFEB-41E9-BA02-5F51A4CF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338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Test approval and recovery paths</a:t>
            </a:r>
          </a:p>
        </p:txBody>
      </p:sp>
      <p:sp>
        <p:nvSpPr>
          <p:cNvPr id="35" name="plan-delivery-bg-1">
            <a:extLst xmlns:a="http://schemas.openxmlformats.org/drawingml/2006/main">
              <a:ext uri="{FF2B5EF4-FFF2-40B4-BE49-F238E27FC236}">
                <a16:creationId xmlns:a16="http://schemas.microsoft.com/office/drawing/2014/main" id="{BC9C65F0-6390-4F9F-A659-4E2FE107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95875"/>
            <a:ext cx="2400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8C79A"/>
            </a:solidFill>
            <a:prstDash val="solid"/>
          </a:ln>
        </p:spPr>
      </p:sp>
      <p:sp>
        <p:nvSpPr>
          <p:cNvPr id="36" name="plan-delivery-label-1">
            <a:extLst xmlns:a="http://schemas.openxmlformats.org/drawingml/2006/main">
              <a:ext uri="{FF2B5EF4-FFF2-40B4-BE49-F238E27FC236}">
                <a16:creationId xmlns:a16="http://schemas.microsoft.com/office/drawing/2014/main" id="{C546B22D-B7B0-433D-A1A4-DACBC8CE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72075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C79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37" name="plan-delivery-1">
            <a:extLst xmlns:a="http://schemas.openxmlformats.org/drawingml/2006/main">
              <a:ext uri="{FF2B5EF4-FFF2-40B4-BE49-F238E27FC236}">
                <a16:creationId xmlns:a16="http://schemas.microsoft.com/office/drawing/2014/main" id="{0C3606D7-57F3-4753-A560-1FF365FD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End-to-end actions verified</a:t>
            </a:r>
          </a:p>
        </p:txBody>
      </p:sp>
      <p:sp>
        <p:nvSpPr>
          <p:cNvPr id="38" name="plan-card-2">
            <a:extLst xmlns:a="http://schemas.openxmlformats.org/drawingml/2006/main">
              <a:ext uri="{FF2B5EF4-FFF2-40B4-BE49-F238E27FC236}">
                <a16:creationId xmlns:a16="http://schemas.microsoft.com/office/drawing/2014/main" id="{D96BFF40-89E8-4296-B874-9F3706B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52575"/>
            <a:ext cx="2705100" cy="45339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39" name="plan-num-bg-2">
            <a:extLst xmlns:a="http://schemas.openxmlformats.org/drawingml/2006/main">
              <a:ext uri="{FF2B5EF4-FFF2-40B4-BE49-F238E27FC236}">
                <a16:creationId xmlns:a16="http://schemas.microsoft.com/office/drawing/2014/main" id="{B26E2E0C-9075-4AE4-8A75-B69843AC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5143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0C6E8"/>
            </a:solidFill>
            <a:prstDash val="solid"/>
          </a:ln>
        </p:spPr>
      </p:sp>
      <p:sp>
        <p:nvSpPr>
          <p:cNvPr id="40" name="plan-num-2">
            <a:extLst xmlns:a="http://schemas.openxmlformats.org/drawingml/2006/main">
              <a:ext uri="{FF2B5EF4-FFF2-40B4-BE49-F238E27FC236}">
                <a16:creationId xmlns:a16="http://schemas.microsoft.com/office/drawing/2014/main" id="{DE663091-AFE9-43F6-907F-9D55DA68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plan-title-2">
            <a:extLst xmlns:a="http://schemas.openxmlformats.org/drawingml/2006/main">
              <a:ext uri="{FF2B5EF4-FFF2-40B4-BE49-F238E27FC236}">
                <a16:creationId xmlns:a16="http://schemas.microsoft.com/office/drawing/2014/main" id="{04F24754-FA76-45EB-8840-079007E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Risk Model Readiness</a:t>
            </a:r>
          </a:p>
        </p:txBody>
      </p:sp>
      <p:sp>
        <p:nvSpPr>
          <p:cNvPr id="42" name="plan-2-0-dot">
            <a:extLst xmlns:a="http://schemas.openxmlformats.org/drawingml/2006/main">
              <a:ext uri="{FF2B5EF4-FFF2-40B4-BE49-F238E27FC236}">
                <a16:creationId xmlns:a16="http://schemas.microsoft.com/office/drawing/2014/main" id="{DBA1131A-CE4F-41CF-8925-FC6A670C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plan-2-0-text">
            <a:extLst xmlns:a="http://schemas.openxmlformats.org/drawingml/2006/main">
              <a:ext uri="{FF2B5EF4-FFF2-40B4-BE49-F238E27FC236}">
                <a16:creationId xmlns:a16="http://schemas.microsoft.com/office/drawing/2014/main" id="{01537A6C-E9DD-40B0-92ED-00644677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Collect reviewed labeled examples</a:t>
            </a:r>
          </a:p>
        </p:txBody>
      </p:sp>
      <p:sp>
        <p:nvSpPr>
          <p:cNvPr id="44" name="plan-2-1-dot">
            <a:extLst xmlns:a="http://schemas.openxmlformats.org/drawingml/2006/main">
              <a:ext uri="{FF2B5EF4-FFF2-40B4-BE49-F238E27FC236}">
                <a16:creationId xmlns:a16="http://schemas.microsoft.com/office/drawing/2014/main" id="{67153958-445D-45C4-82F0-054D1BC0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5" name="plan-2-1-text">
            <a:extLst xmlns:a="http://schemas.openxmlformats.org/drawingml/2006/main">
              <a:ext uri="{FF2B5EF4-FFF2-40B4-BE49-F238E27FC236}">
                <a16:creationId xmlns:a16="http://schemas.microsoft.com/office/drawing/2014/main" id="{8CCDA2F9-078E-4425-A4F6-7974501B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Measure false positives and misses</a:t>
            </a:r>
          </a:p>
        </p:txBody>
      </p:sp>
      <p:sp>
        <p:nvSpPr>
          <p:cNvPr id="46" name="plan-2-2-dot">
            <a:extLst xmlns:a="http://schemas.openxmlformats.org/drawingml/2006/main">
              <a:ext uri="{FF2B5EF4-FFF2-40B4-BE49-F238E27FC236}">
                <a16:creationId xmlns:a16="http://schemas.microsoft.com/office/drawing/2014/main" id="{18CCBCAB-A6F3-40DD-B459-4CF02DC9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plan-2-2-text">
            <a:extLst xmlns:a="http://schemas.openxmlformats.org/drawingml/2006/main">
              <a:ext uri="{FF2B5EF4-FFF2-40B4-BE49-F238E27FC236}">
                <a16:creationId xmlns:a16="http://schemas.microsoft.com/office/drawing/2014/main" id="{6C566052-1D03-41D5-BE21-EED6D187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Calibrate before deployment</a:t>
            </a:r>
          </a:p>
        </p:txBody>
      </p:sp>
      <p:sp>
        <p:nvSpPr>
          <p:cNvPr id="48" name="plan-delivery-bg-2">
            <a:extLst xmlns:a="http://schemas.openxmlformats.org/drawingml/2006/main">
              <a:ext uri="{FF2B5EF4-FFF2-40B4-BE49-F238E27FC236}">
                <a16:creationId xmlns:a16="http://schemas.microsoft.com/office/drawing/2014/main" id="{F9844105-DBFC-4EF9-BBAC-B32436B4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2400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8C79A"/>
            </a:solidFill>
            <a:prstDash val="solid"/>
          </a:ln>
        </p:spPr>
      </p:sp>
      <p:sp>
        <p:nvSpPr>
          <p:cNvPr id="49" name="plan-delivery-label-2">
            <a:extLst xmlns:a="http://schemas.openxmlformats.org/drawingml/2006/main">
              <a:ext uri="{FF2B5EF4-FFF2-40B4-BE49-F238E27FC236}">
                <a16:creationId xmlns:a16="http://schemas.microsoft.com/office/drawing/2014/main" id="{7EF67F5E-9A57-43F0-961E-899F7759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72075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C79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50" name="plan-delivery-2">
            <a:extLst xmlns:a="http://schemas.openxmlformats.org/drawingml/2006/main">
              <a:ext uri="{FF2B5EF4-FFF2-40B4-BE49-F238E27FC236}">
                <a16:creationId xmlns:a16="http://schemas.microsoft.com/office/drawing/2014/main" id="{91ABC55F-B920-4E2D-AD29-44F29A55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5305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Validated dataset and model report</a:t>
            </a:r>
          </a:p>
        </p:txBody>
      </p:sp>
      <p:sp>
        <p:nvSpPr>
          <p:cNvPr id="51" name="plan-card-3">
            <a:extLst xmlns:a="http://schemas.openxmlformats.org/drawingml/2006/main">
              <a:ext uri="{FF2B5EF4-FFF2-40B4-BE49-F238E27FC236}">
                <a16:creationId xmlns:a16="http://schemas.microsoft.com/office/drawing/2014/main" id="{9DADFA63-2F12-422C-AAD6-C3113FFF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52575"/>
            <a:ext cx="2705100" cy="45339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3364D"/>
            </a:solidFill>
            <a:prstDash val="solid"/>
          </a:ln>
        </p:spPr>
      </p:sp>
      <p:sp>
        <p:nvSpPr>
          <p:cNvPr id="52" name="plan-num-bg-3">
            <a:extLst xmlns:a="http://schemas.openxmlformats.org/drawingml/2006/main">
              <a:ext uri="{FF2B5EF4-FFF2-40B4-BE49-F238E27FC236}">
                <a16:creationId xmlns:a16="http://schemas.microsoft.com/office/drawing/2014/main" id="{6CB8491B-5715-416D-8937-66C043D3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24025"/>
            <a:ext cx="5143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0C6E8"/>
            </a:solidFill>
            <a:prstDash val="solid"/>
          </a:ln>
        </p:spPr>
      </p:sp>
      <p:sp>
        <p:nvSpPr>
          <p:cNvPr id="53" name="plan-num-3">
            <a:extLst xmlns:a="http://schemas.openxmlformats.org/drawingml/2006/main">
              <a:ext uri="{FF2B5EF4-FFF2-40B4-BE49-F238E27FC236}">
                <a16:creationId xmlns:a16="http://schemas.microsoft.com/office/drawing/2014/main" id="{F14DD1C1-4EED-4E0B-A5D5-F073CEFB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90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0C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C6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4" name="plan-title-3">
            <a:extLst xmlns:a="http://schemas.openxmlformats.org/drawingml/2006/main">
              <a:ext uri="{FF2B5EF4-FFF2-40B4-BE49-F238E27FC236}">
                <a16:creationId xmlns:a16="http://schemas.microsoft.com/office/drawing/2014/main" id="{34A7E08E-ED01-4090-BF60-7385FDCC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DF3F9"/>
                </a:solidFill>
                <a:latin typeface="Arial"/>
                <a:ea typeface="Arial"/>
                <a:cs typeface="Arial"/>
              </a:rPr>
              <a:t>Operations &amp; Release</a:t>
            </a:r>
          </a:p>
        </p:txBody>
      </p:sp>
      <p:sp>
        <p:nvSpPr>
          <p:cNvPr id="55" name="plan-3-0-dot">
            <a:extLst xmlns:a="http://schemas.openxmlformats.org/drawingml/2006/main">
              <a:ext uri="{FF2B5EF4-FFF2-40B4-BE49-F238E27FC236}">
                <a16:creationId xmlns:a16="http://schemas.microsoft.com/office/drawing/2014/main" id="{A6701378-9374-4870-BB62-27B4F9AC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6" name="plan-3-0-text">
            <a:extLst xmlns:a="http://schemas.openxmlformats.org/drawingml/2006/main">
              <a:ext uri="{FF2B5EF4-FFF2-40B4-BE49-F238E27FC236}">
                <a16:creationId xmlns:a16="http://schemas.microsoft.com/office/drawing/2014/main" id="{AC2BA291-5594-4BDE-9DC0-586FEEC1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Add monitoring, backups, retention</a:t>
            </a:r>
          </a:p>
        </p:txBody>
      </p:sp>
      <p:sp>
        <p:nvSpPr>
          <p:cNvPr id="57" name="plan-3-1-dot">
            <a:extLst xmlns:a="http://schemas.openxmlformats.org/drawingml/2006/main">
              <a:ext uri="{FF2B5EF4-FFF2-40B4-BE49-F238E27FC236}">
                <a16:creationId xmlns:a16="http://schemas.microsoft.com/office/drawing/2014/main" id="{A78CAC22-64B4-49EE-A759-4D33DC88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8" name="plan-3-1-text">
            <a:extLst xmlns:a="http://schemas.openxmlformats.org/drawingml/2006/main">
              <a:ext uri="{FF2B5EF4-FFF2-40B4-BE49-F238E27FC236}">
                <a16:creationId xmlns:a16="http://schemas.microsoft.com/office/drawing/2014/main" id="{225CB375-4425-45BD-B059-A58A54F3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Run hosted security and e2e suites</a:t>
            </a:r>
          </a:p>
        </p:txBody>
      </p:sp>
      <p:sp>
        <p:nvSpPr>
          <p:cNvPr id="59" name="plan-3-2-dot">
            <a:extLst xmlns:a="http://schemas.openxmlformats.org/drawingml/2006/main">
              <a:ext uri="{FF2B5EF4-FFF2-40B4-BE49-F238E27FC236}">
                <a16:creationId xmlns:a16="http://schemas.microsoft.com/office/drawing/2014/main" id="{9F3E69DD-283B-4589-9E90-3C5FFC00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291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6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0" name="plan-3-2-text">
            <a:extLst xmlns:a="http://schemas.openxmlformats.org/drawingml/2006/main">
              <a:ext uri="{FF2B5EF4-FFF2-40B4-BE49-F238E27FC236}">
                <a16:creationId xmlns:a16="http://schemas.microsoft.com/office/drawing/2014/main" id="{9591BE86-3344-4F7F-BB12-3358BC1F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338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Review privacy and compliance</a:t>
            </a:r>
          </a:p>
        </p:txBody>
      </p:sp>
      <p:sp>
        <p:nvSpPr>
          <p:cNvPr id="61" name="plan-delivery-bg-3">
            <a:extLst xmlns:a="http://schemas.openxmlformats.org/drawingml/2006/main">
              <a:ext uri="{FF2B5EF4-FFF2-40B4-BE49-F238E27FC236}">
                <a16:creationId xmlns:a16="http://schemas.microsoft.com/office/drawing/2014/main" id="{78437845-8B25-44B5-BE8E-DD9E98A0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95875"/>
            <a:ext cx="2400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522"/>
          </a:solidFill>
          <a:ln xmlns:a="http://schemas.openxmlformats.org/drawingml/2006/main" w="9525">
            <a:solidFill>
              <a:srgbClr val="28C79A"/>
            </a:solidFill>
            <a:prstDash val="solid"/>
          </a:ln>
        </p:spPr>
      </p:sp>
      <p:sp>
        <p:nvSpPr>
          <p:cNvPr id="62" name="plan-delivery-label-3">
            <a:extLst xmlns:a="http://schemas.openxmlformats.org/drawingml/2006/main">
              <a:ext uri="{FF2B5EF4-FFF2-40B4-BE49-F238E27FC236}">
                <a16:creationId xmlns:a16="http://schemas.microsoft.com/office/drawing/2014/main" id="{DBCFB6F8-3868-4113-89B7-54060D9D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72075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8C7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C79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3" name="plan-delivery-3">
            <a:extLst xmlns:a="http://schemas.openxmlformats.org/drawingml/2006/main">
              <a:ext uri="{FF2B5EF4-FFF2-40B4-BE49-F238E27FC236}">
                <a16:creationId xmlns:a16="http://schemas.microsoft.com/office/drawing/2014/main" id="{C5B1736F-A9BF-4CCC-9A24-9F13CEFC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5305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EDF3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DF3F9"/>
                </a:solidFill>
                <a:latin typeface="Arial"/>
                <a:ea typeface="Arial"/>
                <a:cs typeface="Arial"/>
              </a:rPr>
              <a:t>Release checklist signed off</a:t>
            </a:r>
          </a:p>
        </p:txBody>
      </p:sp>
    </p:spTree>
    <p:extLst>
      <p:ext uri="{BB962C8B-B14F-4D97-AF65-F5344CB8AC3E}">
        <p14:creationId xmlns:p14="http://schemas.microsoft.com/office/powerpoint/2010/main" val="71869840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2026-10-24T11:29:15.5210000Z</dcterms:created>
  <dcterms:modified xsi:type="dcterms:W3CDTF">2026-10-24T11:29:15.5210000Z</dcterms:modified>
</coreProperties>
</file>